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Calibri (MS) Bold" charset="1" panose="020F0702030404030204"/>
      <p:regular r:id="rId17"/>
    </p:embeddedFont>
    <p:embeddedFont>
      <p:font typeface="Calibri (MS)" charset="1" panose="020F0502020204030204"/>
      <p:regular r:id="rId18"/>
    </p:embeddedFont>
    <p:embeddedFont>
      <p:font typeface="Arial" charset="1" panose="020B0604020202020204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.png" Type="http://schemas.openxmlformats.org/officeDocument/2006/relationships/image"/><Relationship Id="rId11" Target="../media/image10.svg" Type="http://schemas.openxmlformats.org/officeDocument/2006/relationships/image"/><Relationship Id="rId12" Target="../media/image11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svg" Type="http://schemas.openxmlformats.org/officeDocument/2006/relationships/image"/><Relationship Id="rId7" Target="../media/image6.png" Type="http://schemas.openxmlformats.org/officeDocument/2006/relationships/image"/><Relationship Id="rId8" Target="../media/image7.png" Type="http://schemas.openxmlformats.org/officeDocument/2006/relationships/image"/><Relationship Id="rId9" Target="../media/image8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2.png" Type="http://schemas.openxmlformats.org/officeDocument/2006/relationships/image"/><Relationship Id="rId11" Target="../media/image23.svg" Type="http://schemas.openxmlformats.org/officeDocument/2006/relationships/image"/><Relationship Id="rId12" Target="../media/image12.png" Type="http://schemas.openxmlformats.org/officeDocument/2006/relationships/image"/><Relationship Id="rId13" Target="../media/image13.svg" Type="http://schemas.openxmlformats.org/officeDocument/2006/relationships/image"/><Relationship Id="rId2" Target="../media/image14.png" Type="http://schemas.openxmlformats.org/officeDocument/2006/relationships/image"/><Relationship Id="rId3" Target="../media/image15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8.svg" Type="http://schemas.openxmlformats.org/officeDocument/2006/relationships/image"/><Relationship Id="rId7" Target="../media/image19.svg" Type="http://schemas.openxmlformats.org/officeDocument/2006/relationships/image"/><Relationship Id="rId8" Target="../media/image20.png" Type="http://schemas.openxmlformats.org/officeDocument/2006/relationships/image"/><Relationship Id="rId9" Target="../media/image21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2.png" Type="http://schemas.openxmlformats.org/officeDocument/2006/relationships/image"/><Relationship Id="rId11" Target="../media/image33.svg" Type="http://schemas.openxmlformats.org/officeDocument/2006/relationships/image"/><Relationship Id="rId12" Target="../media/image34.svg" Type="http://schemas.openxmlformats.org/officeDocument/2006/relationships/image"/><Relationship Id="rId13" Target="../media/image35.png" Type="http://schemas.openxmlformats.org/officeDocument/2006/relationships/image"/><Relationship Id="rId14" Target="../media/image36.png" Type="http://schemas.openxmlformats.org/officeDocument/2006/relationships/image"/><Relationship Id="rId15" Target="../media/image37.svg" Type="http://schemas.openxmlformats.org/officeDocument/2006/relationships/image"/><Relationship Id="rId16" Target="../media/image38.png" Type="http://schemas.openxmlformats.org/officeDocument/2006/relationships/image"/><Relationship Id="rId17" Target="../media/image39.png" Type="http://schemas.openxmlformats.org/officeDocument/2006/relationships/image"/><Relationship Id="rId18" Target="../media/image40.svg" Type="http://schemas.openxmlformats.org/officeDocument/2006/relationships/image"/><Relationship Id="rId19" Target="../media/image12.png" Type="http://schemas.openxmlformats.org/officeDocument/2006/relationships/image"/><Relationship Id="rId2" Target="../media/image24.png" Type="http://schemas.openxmlformats.org/officeDocument/2006/relationships/image"/><Relationship Id="rId20" Target="../media/image13.svg" Type="http://schemas.openxmlformats.org/officeDocument/2006/relationships/image"/><Relationship Id="rId21" Target="../media/image41.png" Type="http://schemas.openxmlformats.org/officeDocument/2006/relationships/image"/><Relationship Id="rId22" Target="../media/image42.svg" Type="http://schemas.openxmlformats.org/officeDocument/2006/relationships/image"/><Relationship Id="rId3" Target="../media/image25.svg" Type="http://schemas.openxmlformats.org/officeDocument/2006/relationships/image"/><Relationship Id="rId4" Target="../media/image26.png" Type="http://schemas.openxmlformats.org/officeDocument/2006/relationships/image"/><Relationship Id="rId5" Target="../media/image27.png" Type="http://schemas.openxmlformats.org/officeDocument/2006/relationships/image"/><Relationship Id="rId6" Target="../media/image28.sv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Relationship Id="rId9" Target="../media/image31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9.png" Type="http://schemas.openxmlformats.org/officeDocument/2006/relationships/image"/><Relationship Id="rId11" Target="../media/image50.svg" Type="http://schemas.openxmlformats.org/officeDocument/2006/relationships/image"/><Relationship Id="rId12" Target="../media/image51.svg" Type="http://schemas.openxmlformats.org/officeDocument/2006/relationships/image"/><Relationship Id="rId13" Target="../media/image52.png" Type="http://schemas.openxmlformats.org/officeDocument/2006/relationships/image"/><Relationship Id="rId14" Target="../media/image53.png" Type="http://schemas.openxmlformats.org/officeDocument/2006/relationships/image"/><Relationship Id="rId15" Target="../media/image54.svg" Type="http://schemas.openxmlformats.org/officeDocument/2006/relationships/image"/><Relationship Id="rId16" Target="../media/image55.png" Type="http://schemas.openxmlformats.org/officeDocument/2006/relationships/image"/><Relationship Id="rId17" Target="../media/image22.png" Type="http://schemas.openxmlformats.org/officeDocument/2006/relationships/image"/><Relationship Id="rId18" Target="../media/image23.svg" Type="http://schemas.openxmlformats.org/officeDocument/2006/relationships/image"/><Relationship Id="rId19" Target="../media/image12.png" Type="http://schemas.openxmlformats.org/officeDocument/2006/relationships/image"/><Relationship Id="rId2" Target="../media/image14.png" Type="http://schemas.openxmlformats.org/officeDocument/2006/relationships/image"/><Relationship Id="rId20" Target="../media/image13.svg" Type="http://schemas.openxmlformats.org/officeDocument/2006/relationships/image"/><Relationship Id="rId3" Target="../media/image15.svg" Type="http://schemas.openxmlformats.org/officeDocument/2006/relationships/image"/><Relationship Id="rId4" Target="../media/image43.png" Type="http://schemas.openxmlformats.org/officeDocument/2006/relationships/image"/><Relationship Id="rId5" Target="../media/image44.png" Type="http://schemas.openxmlformats.org/officeDocument/2006/relationships/image"/><Relationship Id="rId6" Target="../media/image45.sv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64.svg" Type="http://schemas.openxmlformats.org/officeDocument/2006/relationships/image"/><Relationship Id="rId11" Target="../media/image65.png" Type="http://schemas.openxmlformats.org/officeDocument/2006/relationships/image"/><Relationship Id="rId12" Target="../media/image66.png" Type="http://schemas.openxmlformats.org/officeDocument/2006/relationships/image"/><Relationship Id="rId13" Target="../media/image67.svg" Type="http://schemas.openxmlformats.org/officeDocument/2006/relationships/image"/><Relationship Id="rId14" Target="../media/image39.png" Type="http://schemas.openxmlformats.org/officeDocument/2006/relationships/image"/><Relationship Id="rId15" Target="../media/image40.svg" Type="http://schemas.openxmlformats.org/officeDocument/2006/relationships/image"/><Relationship Id="rId16" Target="../media/image68.png" Type="http://schemas.openxmlformats.org/officeDocument/2006/relationships/image"/><Relationship Id="rId17" Target="../media/image69.svg" Type="http://schemas.openxmlformats.org/officeDocument/2006/relationships/image"/><Relationship Id="rId18" Target="../media/image38.png" Type="http://schemas.openxmlformats.org/officeDocument/2006/relationships/image"/><Relationship Id="rId19" Target="../media/image70.png" Type="http://schemas.openxmlformats.org/officeDocument/2006/relationships/image"/><Relationship Id="rId2" Target="../media/image56.png" Type="http://schemas.openxmlformats.org/officeDocument/2006/relationships/image"/><Relationship Id="rId20" Target="../media/image71.svg" Type="http://schemas.openxmlformats.org/officeDocument/2006/relationships/image"/><Relationship Id="rId21" Target="../media/image12.png" Type="http://schemas.openxmlformats.org/officeDocument/2006/relationships/image"/><Relationship Id="rId22" Target="../media/image13.svg" Type="http://schemas.openxmlformats.org/officeDocument/2006/relationships/image"/><Relationship Id="rId23" Target="../media/image72.png" Type="http://schemas.openxmlformats.org/officeDocument/2006/relationships/image"/><Relationship Id="rId24" Target="../media/image73.svg" Type="http://schemas.openxmlformats.org/officeDocument/2006/relationships/image"/><Relationship Id="rId3" Target="../media/image57.svg" Type="http://schemas.openxmlformats.org/officeDocument/2006/relationships/image"/><Relationship Id="rId4" Target="../media/image58.png" Type="http://schemas.openxmlformats.org/officeDocument/2006/relationships/image"/><Relationship Id="rId5" Target="../media/image59.png" Type="http://schemas.openxmlformats.org/officeDocument/2006/relationships/image"/><Relationship Id="rId6" Target="../media/image60.svg" Type="http://schemas.openxmlformats.org/officeDocument/2006/relationships/image"/><Relationship Id="rId7" Target="../media/image61.png" Type="http://schemas.openxmlformats.org/officeDocument/2006/relationships/image"/><Relationship Id="rId8" Target="../media/image62.png" Type="http://schemas.openxmlformats.org/officeDocument/2006/relationships/image"/><Relationship Id="rId9" Target="../media/image6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82.png" Type="http://schemas.openxmlformats.org/officeDocument/2006/relationships/image"/><Relationship Id="rId11" Target="../media/image83.svg" Type="http://schemas.openxmlformats.org/officeDocument/2006/relationships/image"/><Relationship Id="rId12" Target="../media/image84.svg" Type="http://schemas.openxmlformats.org/officeDocument/2006/relationships/image"/><Relationship Id="rId13" Target="../media/image12.png" Type="http://schemas.openxmlformats.org/officeDocument/2006/relationships/image"/><Relationship Id="rId14" Target="../media/image13.svg" Type="http://schemas.openxmlformats.org/officeDocument/2006/relationships/image"/><Relationship Id="rId15" Target="../media/image85.png" Type="http://schemas.openxmlformats.org/officeDocument/2006/relationships/image"/><Relationship Id="rId16" Target="../media/image86.svg" Type="http://schemas.openxmlformats.org/officeDocument/2006/relationships/image"/><Relationship Id="rId2" Target="../media/image74.png" Type="http://schemas.openxmlformats.org/officeDocument/2006/relationships/image"/><Relationship Id="rId3" Target="../media/image75.svg" Type="http://schemas.openxmlformats.org/officeDocument/2006/relationships/image"/><Relationship Id="rId4" Target="../media/image76.png" Type="http://schemas.openxmlformats.org/officeDocument/2006/relationships/image"/><Relationship Id="rId5" Target="../media/image77.png" Type="http://schemas.openxmlformats.org/officeDocument/2006/relationships/image"/><Relationship Id="rId6" Target="../media/image78.svg" Type="http://schemas.openxmlformats.org/officeDocument/2006/relationships/image"/><Relationship Id="rId7" Target="../media/image79.png" Type="http://schemas.openxmlformats.org/officeDocument/2006/relationships/image"/><Relationship Id="rId8" Target="../media/image80.png" Type="http://schemas.openxmlformats.org/officeDocument/2006/relationships/image"/><Relationship Id="rId9" Target="../media/image81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90.svg" Type="http://schemas.openxmlformats.org/officeDocument/2006/relationships/image"/><Relationship Id="rId11" Target="../media/image91.png" Type="http://schemas.openxmlformats.org/officeDocument/2006/relationships/image"/><Relationship Id="rId12" Target="../media/image92.png" Type="http://schemas.openxmlformats.org/officeDocument/2006/relationships/image"/><Relationship Id="rId13" Target="../media/image93.svg" Type="http://schemas.openxmlformats.org/officeDocument/2006/relationships/image"/><Relationship Id="rId14" Target="../media/image94.png" Type="http://schemas.openxmlformats.org/officeDocument/2006/relationships/image"/><Relationship Id="rId15" Target="../media/image95.svg" Type="http://schemas.openxmlformats.org/officeDocument/2006/relationships/image"/><Relationship Id="rId16" Target="../media/image96.png" Type="http://schemas.openxmlformats.org/officeDocument/2006/relationships/image"/><Relationship Id="rId17" Target="../media/image97.svg" Type="http://schemas.openxmlformats.org/officeDocument/2006/relationships/image"/><Relationship Id="rId18" Target="../media/image98.png" Type="http://schemas.openxmlformats.org/officeDocument/2006/relationships/image"/><Relationship Id="rId19" Target="../media/image99.png" Type="http://schemas.openxmlformats.org/officeDocument/2006/relationships/image"/><Relationship Id="rId2" Target="../media/image14.png" Type="http://schemas.openxmlformats.org/officeDocument/2006/relationships/image"/><Relationship Id="rId20" Target="../media/image100.png" Type="http://schemas.openxmlformats.org/officeDocument/2006/relationships/image"/><Relationship Id="rId21" Target="../media/image101.svg" Type="http://schemas.openxmlformats.org/officeDocument/2006/relationships/image"/><Relationship Id="rId22" Target="../media/image102.png" Type="http://schemas.openxmlformats.org/officeDocument/2006/relationships/image"/><Relationship Id="rId23" Target="../media/image103.png" Type="http://schemas.openxmlformats.org/officeDocument/2006/relationships/image"/><Relationship Id="rId24" Target="../media/image104.svg" Type="http://schemas.openxmlformats.org/officeDocument/2006/relationships/image"/><Relationship Id="rId25" Target="../media/image12.png" Type="http://schemas.openxmlformats.org/officeDocument/2006/relationships/image"/><Relationship Id="rId26" Target="../media/image13.svg" Type="http://schemas.openxmlformats.org/officeDocument/2006/relationships/image"/><Relationship Id="rId27" Target="../media/image105.png" Type="http://schemas.openxmlformats.org/officeDocument/2006/relationships/image"/><Relationship Id="rId28" Target="../media/image106.svg" Type="http://schemas.openxmlformats.org/officeDocument/2006/relationships/image"/><Relationship Id="rId3" Target="../media/image15.svg" Type="http://schemas.openxmlformats.org/officeDocument/2006/relationships/image"/><Relationship Id="rId4" Target="../media/image87.png" Type="http://schemas.openxmlformats.org/officeDocument/2006/relationships/image"/><Relationship Id="rId5" Target="../media/image88.png" Type="http://schemas.openxmlformats.org/officeDocument/2006/relationships/image"/><Relationship Id="rId6" Target="../media/image89.svg" Type="http://schemas.openxmlformats.org/officeDocument/2006/relationships/image"/><Relationship Id="rId7" Target="../media/image55.pn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15.svg" Type="http://schemas.openxmlformats.org/officeDocument/2006/relationships/image"/><Relationship Id="rId11" Target="../media/image116.png" Type="http://schemas.openxmlformats.org/officeDocument/2006/relationships/image"/><Relationship Id="rId12" Target="../media/image117.svg" Type="http://schemas.openxmlformats.org/officeDocument/2006/relationships/image"/><Relationship Id="rId13" Target="../media/image118.png" Type="http://schemas.openxmlformats.org/officeDocument/2006/relationships/image"/><Relationship Id="rId14" Target="../media/image119.svg" Type="http://schemas.openxmlformats.org/officeDocument/2006/relationships/image"/><Relationship Id="rId15" Target="../media/image120.png" Type="http://schemas.openxmlformats.org/officeDocument/2006/relationships/image"/><Relationship Id="rId16" Target="../media/image121.svg" Type="http://schemas.openxmlformats.org/officeDocument/2006/relationships/image"/><Relationship Id="rId17" Target="../media/image122.png" Type="http://schemas.openxmlformats.org/officeDocument/2006/relationships/image"/><Relationship Id="rId18" Target="../media/image123.png" Type="http://schemas.openxmlformats.org/officeDocument/2006/relationships/image"/><Relationship Id="rId19" Target="../media/image124.svg" Type="http://schemas.openxmlformats.org/officeDocument/2006/relationships/image"/><Relationship Id="rId2" Target="../media/image107.png" Type="http://schemas.openxmlformats.org/officeDocument/2006/relationships/image"/><Relationship Id="rId3" Target="../media/image108.svg" Type="http://schemas.openxmlformats.org/officeDocument/2006/relationships/image"/><Relationship Id="rId4" Target="../media/image109.png" Type="http://schemas.openxmlformats.org/officeDocument/2006/relationships/image"/><Relationship Id="rId5" Target="../media/image110.png" Type="http://schemas.openxmlformats.org/officeDocument/2006/relationships/image"/><Relationship Id="rId6" Target="../media/image111.svg" Type="http://schemas.openxmlformats.org/officeDocument/2006/relationships/image"/><Relationship Id="rId7" Target="../media/image112.png" Type="http://schemas.openxmlformats.org/officeDocument/2006/relationships/image"/><Relationship Id="rId8" Target="../media/image113.png" Type="http://schemas.openxmlformats.org/officeDocument/2006/relationships/image"/><Relationship Id="rId9" Target="../media/image114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31.png" Type="http://schemas.openxmlformats.org/officeDocument/2006/relationships/image"/><Relationship Id="rId11" Target="../media/image132.svg" Type="http://schemas.openxmlformats.org/officeDocument/2006/relationships/image"/><Relationship Id="rId12" Target="../media/image133.svg" Type="http://schemas.openxmlformats.org/officeDocument/2006/relationships/image"/><Relationship Id="rId13" Target="../media/image134.png" Type="http://schemas.openxmlformats.org/officeDocument/2006/relationships/image"/><Relationship Id="rId14" Target="../media/image135.png" Type="http://schemas.openxmlformats.org/officeDocument/2006/relationships/image"/><Relationship Id="rId15" Target="../media/image136.svg" Type="http://schemas.openxmlformats.org/officeDocument/2006/relationships/image"/><Relationship Id="rId16" Target="../media/image137.png" Type="http://schemas.openxmlformats.org/officeDocument/2006/relationships/image"/><Relationship Id="rId17" Target="../media/image138.png" Type="http://schemas.openxmlformats.org/officeDocument/2006/relationships/image"/><Relationship Id="rId18" Target="../media/image139.svg" Type="http://schemas.openxmlformats.org/officeDocument/2006/relationships/image"/><Relationship Id="rId19" Target="../media/image12.png" Type="http://schemas.openxmlformats.org/officeDocument/2006/relationships/image"/><Relationship Id="rId2" Target="../media/image24.png" Type="http://schemas.openxmlformats.org/officeDocument/2006/relationships/image"/><Relationship Id="rId20" Target="../media/image13.svg" Type="http://schemas.openxmlformats.org/officeDocument/2006/relationships/image"/><Relationship Id="rId21" Target="../media/image140.png" Type="http://schemas.openxmlformats.org/officeDocument/2006/relationships/image"/><Relationship Id="rId22" Target="../media/image141.svg" Type="http://schemas.openxmlformats.org/officeDocument/2006/relationships/image"/><Relationship Id="rId3" Target="../media/image25.svg" Type="http://schemas.openxmlformats.org/officeDocument/2006/relationships/image"/><Relationship Id="rId4" Target="../media/image125.png" Type="http://schemas.openxmlformats.org/officeDocument/2006/relationships/image"/><Relationship Id="rId5" Target="../media/image126.png" Type="http://schemas.openxmlformats.org/officeDocument/2006/relationships/image"/><Relationship Id="rId6" Target="../media/image127.svg" Type="http://schemas.openxmlformats.org/officeDocument/2006/relationships/image"/><Relationship Id="rId7" Target="../media/image128.png" Type="http://schemas.openxmlformats.org/officeDocument/2006/relationships/image"/><Relationship Id="rId8" Target="../media/image129.png" Type="http://schemas.openxmlformats.org/officeDocument/2006/relationships/image"/><Relationship Id="rId9" Target="../media/image13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5.png" Type="http://schemas.openxmlformats.org/officeDocument/2006/relationships/image"/><Relationship Id="rId11" Target="../media/image146.svg" Type="http://schemas.openxmlformats.org/officeDocument/2006/relationships/image"/><Relationship Id="rId12" Target="../media/image147.svg" Type="http://schemas.openxmlformats.org/officeDocument/2006/relationships/image"/><Relationship Id="rId13" Target="../media/image148.png" Type="http://schemas.openxmlformats.org/officeDocument/2006/relationships/image"/><Relationship Id="rId14" Target="../media/image20.png" Type="http://schemas.openxmlformats.org/officeDocument/2006/relationships/image"/><Relationship Id="rId15" Target="../media/image21.svg" Type="http://schemas.openxmlformats.org/officeDocument/2006/relationships/image"/><Relationship Id="rId16" Target="../media/image55.png" Type="http://schemas.openxmlformats.org/officeDocument/2006/relationships/image"/><Relationship Id="rId17" Target="../media/image22.png" Type="http://schemas.openxmlformats.org/officeDocument/2006/relationships/image"/><Relationship Id="rId18" Target="../media/image23.svg" Type="http://schemas.openxmlformats.org/officeDocument/2006/relationships/image"/><Relationship Id="rId19" Target="../media/image12.png" Type="http://schemas.openxmlformats.org/officeDocument/2006/relationships/image"/><Relationship Id="rId2" Target="../media/image14.png" Type="http://schemas.openxmlformats.org/officeDocument/2006/relationships/image"/><Relationship Id="rId20" Target="../media/image13.svg" Type="http://schemas.openxmlformats.org/officeDocument/2006/relationships/image"/><Relationship Id="rId3" Target="../media/image15.svg" Type="http://schemas.openxmlformats.org/officeDocument/2006/relationships/image"/><Relationship Id="rId4" Target="../media/image142.png" Type="http://schemas.openxmlformats.org/officeDocument/2006/relationships/image"/><Relationship Id="rId5" Target="../media/image143.png" Type="http://schemas.openxmlformats.org/officeDocument/2006/relationships/image"/><Relationship Id="rId6" Target="../media/image144.svg" Type="http://schemas.openxmlformats.org/officeDocument/2006/relationships/image"/><Relationship Id="rId7" Target="../media/image46.png" Type="http://schemas.openxmlformats.org/officeDocument/2006/relationships/image"/><Relationship Id="rId8" Target="../media/image47.png" Type="http://schemas.openxmlformats.org/officeDocument/2006/relationships/image"/><Relationship Id="rId9" Target="../media/image48.sv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49.png" Type="http://schemas.openxmlformats.org/officeDocument/2006/relationships/image"/><Relationship Id="rId3" Target="../media/image150.svg" Type="http://schemas.openxmlformats.org/officeDocument/2006/relationships/image"/><Relationship Id="rId4" Target="../media/image12.png" Type="http://schemas.openxmlformats.org/officeDocument/2006/relationships/image"/><Relationship Id="rId5" Target="../media/image1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0147" y="2125980"/>
            <a:ext cx="16047720" cy="2194560"/>
          </a:xfrm>
          <a:custGeom>
            <a:avLst/>
            <a:gdLst/>
            <a:ahLst/>
            <a:cxnLst/>
            <a:rect r="r" b="b" t="t" l="l"/>
            <a:pathLst>
              <a:path h="2194560" w="16047720">
                <a:moveTo>
                  <a:pt x="0" y="0"/>
                </a:moveTo>
                <a:lnTo>
                  <a:pt x="16047721" y="0"/>
                </a:lnTo>
                <a:lnTo>
                  <a:pt x="16047721" y="2194560"/>
                </a:lnTo>
                <a:lnTo>
                  <a:pt x="0" y="219456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3011" y="5453753"/>
            <a:ext cx="4523408" cy="1711628"/>
            <a:chOff x="0" y="0"/>
            <a:chExt cx="4020807" cy="15214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020820" cy="1521460"/>
            </a:xfrm>
            <a:custGeom>
              <a:avLst/>
              <a:gdLst/>
              <a:ahLst/>
              <a:cxnLst/>
              <a:rect r="r" b="b" t="t" l="l"/>
              <a:pathLst>
                <a:path h="1521460" w="4020820">
                  <a:moveTo>
                    <a:pt x="0" y="0"/>
                  </a:moveTo>
                  <a:lnTo>
                    <a:pt x="4020820" y="0"/>
                  </a:lnTo>
                  <a:lnTo>
                    <a:pt x="4020820" y="1521460"/>
                  </a:lnTo>
                  <a:lnTo>
                    <a:pt x="0" y="1521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77749" y="5384001"/>
            <a:ext cx="4593903" cy="1782123"/>
          </a:xfrm>
          <a:custGeom>
            <a:avLst/>
            <a:gdLst/>
            <a:ahLst/>
            <a:cxnLst/>
            <a:rect r="r" b="b" t="t" l="l"/>
            <a:pathLst>
              <a:path h="1782123" w="4593903">
                <a:moveTo>
                  <a:pt x="0" y="0"/>
                </a:moveTo>
                <a:lnTo>
                  <a:pt x="4593903" y="0"/>
                </a:lnTo>
                <a:lnTo>
                  <a:pt x="4593903" y="1782123"/>
                </a:lnTo>
                <a:lnTo>
                  <a:pt x="0" y="17821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20154" y="5460897"/>
            <a:ext cx="216013" cy="1697341"/>
            <a:chOff x="0" y="0"/>
            <a:chExt cx="192011" cy="15087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" cy="1508760"/>
            </a:xfrm>
            <a:custGeom>
              <a:avLst/>
              <a:gdLst/>
              <a:ahLst/>
              <a:cxnLst/>
              <a:rect r="r" b="b" t="t" l="l"/>
              <a:pathLst>
                <a:path h="15087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508760"/>
                  </a:lnTo>
                  <a:lnTo>
                    <a:pt x="0" y="150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80148" y="5486400"/>
            <a:ext cx="96012" cy="1577340"/>
          </a:xfrm>
          <a:custGeom>
            <a:avLst/>
            <a:gdLst/>
            <a:ahLst/>
            <a:cxnLst/>
            <a:rect r="r" b="b" t="t" l="l"/>
            <a:pathLst>
              <a:path h="1577340" w="96012">
                <a:moveTo>
                  <a:pt x="0" y="0"/>
                </a:moveTo>
                <a:lnTo>
                  <a:pt x="96012" y="0"/>
                </a:lnTo>
                <a:lnTo>
                  <a:pt x="96012" y="1577340"/>
                </a:lnTo>
                <a:lnTo>
                  <a:pt x="0" y="157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23047" y="5733288"/>
            <a:ext cx="3771900" cy="1165860"/>
          </a:xfrm>
          <a:custGeom>
            <a:avLst/>
            <a:gdLst/>
            <a:ahLst/>
            <a:cxnLst/>
            <a:rect r="r" b="b" t="t" l="l"/>
            <a:pathLst>
              <a:path h="1165860" w="3771900">
                <a:moveTo>
                  <a:pt x="0" y="0"/>
                </a:moveTo>
                <a:lnTo>
                  <a:pt x="3771900" y="0"/>
                </a:lnTo>
                <a:lnTo>
                  <a:pt x="3771900" y="1165860"/>
                </a:lnTo>
                <a:lnTo>
                  <a:pt x="0" y="1165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845031" y="5453753"/>
            <a:ext cx="4523408" cy="1711628"/>
            <a:chOff x="0" y="0"/>
            <a:chExt cx="4020807" cy="15214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020820" cy="1521460"/>
            </a:xfrm>
            <a:custGeom>
              <a:avLst/>
              <a:gdLst/>
              <a:ahLst/>
              <a:cxnLst/>
              <a:rect r="r" b="b" t="t" l="l"/>
              <a:pathLst>
                <a:path h="1521460" w="4020820">
                  <a:moveTo>
                    <a:pt x="0" y="0"/>
                  </a:moveTo>
                  <a:lnTo>
                    <a:pt x="4020820" y="0"/>
                  </a:lnTo>
                  <a:lnTo>
                    <a:pt x="4020820" y="1521460"/>
                  </a:lnTo>
                  <a:lnTo>
                    <a:pt x="0" y="1521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809769" y="5384001"/>
            <a:ext cx="4593903" cy="1782123"/>
          </a:xfrm>
          <a:custGeom>
            <a:avLst/>
            <a:gdLst/>
            <a:ahLst/>
            <a:cxnLst/>
            <a:rect r="r" b="b" t="t" l="l"/>
            <a:pathLst>
              <a:path h="1782123" w="4593903">
                <a:moveTo>
                  <a:pt x="0" y="0"/>
                </a:moveTo>
                <a:lnTo>
                  <a:pt x="4593903" y="0"/>
                </a:lnTo>
                <a:lnTo>
                  <a:pt x="4593903" y="1782123"/>
                </a:lnTo>
                <a:lnTo>
                  <a:pt x="0" y="17821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852174" y="5460897"/>
            <a:ext cx="216013" cy="1697341"/>
            <a:chOff x="0" y="0"/>
            <a:chExt cx="192011" cy="15087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" cy="1508760"/>
            </a:xfrm>
            <a:custGeom>
              <a:avLst/>
              <a:gdLst/>
              <a:ahLst/>
              <a:cxnLst/>
              <a:rect r="r" b="b" t="t" l="l"/>
              <a:pathLst>
                <a:path h="15087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508760"/>
                  </a:lnTo>
                  <a:lnTo>
                    <a:pt x="0" y="150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912168" y="5486400"/>
            <a:ext cx="96012" cy="1577340"/>
          </a:xfrm>
          <a:custGeom>
            <a:avLst/>
            <a:gdLst/>
            <a:ahLst/>
            <a:cxnLst/>
            <a:rect r="r" b="b" t="t" l="l"/>
            <a:pathLst>
              <a:path h="1577340" w="96012">
                <a:moveTo>
                  <a:pt x="0" y="0"/>
                </a:moveTo>
                <a:lnTo>
                  <a:pt x="96012" y="0"/>
                </a:lnTo>
                <a:lnTo>
                  <a:pt x="96012" y="1577340"/>
                </a:lnTo>
                <a:lnTo>
                  <a:pt x="0" y="157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255068" y="5733288"/>
            <a:ext cx="3771900" cy="1165860"/>
          </a:xfrm>
          <a:custGeom>
            <a:avLst/>
            <a:gdLst/>
            <a:ahLst/>
            <a:cxnLst/>
            <a:rect r="r" b="b" t="t" l="l"/>
            <a:pathLst>
              <a:path h="1165860" w="3771900">
                <a:moveTo>
                  <a:pt x="0" y="0"/>
                </a:moveTo>
                <a:lnTo>
                  <a:pt x="3771900" y="0"/>
                </a:lnTo>
                <a:lnTo>
                  <a:pt x="3771900" y="1165860"/>
                </a:lnTo>
                <a:lnTo>
                  <a:pt x="0" y="1165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577051" y="5453753"/>
            <a:ext cx="4523408" cy="1711628"/>
            <a:chOff x="0" y="0"/>
            <a:chExt cx="4020807" cy="152144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020820" cy="1521460"/>
            </a:xfrm>
            <a:custGeom>
              <a:avLst/>
              <a:gdLst/>
              <a:ahLst/>
              <a:cxnLst/>
              <a:rect r="r" b="b" t="t" l="l"/>
              <a:pathLst>
                <a:path h="1521460" w="4020820">
                  <a:moveTo>
                    <a:pt x="0" y="0"/>
                  </a:moveTo>
                  <a:lnTo>
                    <a:pt x="4020820" y="0"/>
                  </a:lnTo>
                  <a:lnTo>
                    <a:pt x="4020820" y="1521460"/>
                  </a:lnTo>
                  <a:lnTo>
                    <a:pt x="0" y="15214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541789" y="5384001"/>
            <a:ext cx="4593903" cy="1782123"/>
          </a:xfrm>
          <a:custGeom>
            <a:avLst/>
            <a:gdLst/>
            <a:ahLst/>
            <a:cxnLst/>
            <a:rect r="r" b="b" t="t" l="l"/>
            <a:pathLst>
              <a:path h="1782123" w="4593903">
                <a:moveTo>
                  <a:pt x="0" y="0"/>
                </a:moveTo>
                <a:lnTo>
                  <a:pt x="4593903" y="0"/>
                </a:lnTo>
                <a:lnTo>
                  <a:pt x="4593903" y="1782123"/>
                </a:lnTo>
                <a:lnTo>
                  <a:pt x="0" y="17821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0584194" y="5460897"/>
            <a:ext cx="216013" cy="1697341"/>
            <a:chOff x="0" y="0"/>
            <a:chExt cx="192011" cy="150874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024" cy="1508760"/>
            </a:xfrm>
            <a:custGeom>
              <a:avLst/>
              <a:gdLst/>
              <a:ahLst/>
              <a:cxnLst/>
              <a:rect r="r" b="b" t="t" l="l"/>
              <a:pathLst>
                <a:path h="15087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508760"/>
                  </a:lnTo>
                  <a:lnTo>
                    <a:pt x="0" y="15087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0644188" y="5486400"/>
            <a:ext cx="96012" cy="1577340"/>
          </a:xfrm>
          <a:custGeom>
            <a:avLst/>
            <a:gdLst/>
            <a:ahLst/>
            <a:cxnLst/>
            <a:rect r="r" b="b" t="t" l="l"/>
            <a:pathLst>
              <a:path h="1577340" w="96012">
                <a:moveTo>
                  <a:pt x="0" y="0"/>
                </a:moveTo>
                <a:lnTo>
                  <a:pt x="96012" y="0"/>
                </a:lnTo>
                <a:lnTo>
                  <a:pt x="96012" y="1577340"/>
                </a:lnTo>
                <a:lnTo>
                  <a:pt x="0" y="15773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0987088" y="5733288"/>
            <a:ext cx="3771900" cy="1165860"/>
          </a:xfrm>
          <a:custGeom>
            <a:avLst/>
            <a:gdLst/>
            <a:ahLst/>
            <a:cxnLst/>
            <a:rect r="r" b="b" t="t" l="l"/>
            <a:pathLst>
              <a:path h="1165860" w="3771900">
                <a:moveTo>
                  <a:pt x="0" y="0"/>
                </a:moveTo>
                <a:lnTo>
                  <a:pt x="3771900" y="0"/>
                </a:lnTo>
                <a:lnTo>
                  <a:pt x="3771900" y="1165860"/>
                </a:lnTo>
                <a:lnTo>
                  <a:pt x="0" y="11658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1308735" y="1939519"/>
            <a:ext cx="8262819" cy="1546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1340"/>
              </a:lnSpc>
            </a:pPr>
            <a:r>
              <a:rPr lang="en-US" b="true" sz="8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SOC SIMULATOR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2701823" y="3319882"/>
            <a:ext cx="105399" cy="6591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5848B4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308735" y="3319882"/>
            <a:ext cx="13497759" cy="6705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40"/>
              </a:lnSpc>
            </a:pPr>
            <a:r>
              <a:rPr lang="en-US" sz="3600">
                <a:solidFill>
                  <a:srgbClr val="5848B4"/>
                </a:solidFill>
                <a:latin typeface="Calibri (MS)"/>
                <a:ea typeface="Calibri (MS)"/>
                <a:cs typeface="Calibri (MS)"/>
                <a:sym typeface="Calibri (MS)"/>
              </a:rPr>
              <a:t>AI-Powered Sec</a:t>
            </a:r>
            <a:r>
              <a:rPr lang="en-US" sz="3600">
                <a:solidFill>
                  <a:srgbClr val="5848B4"/>
                </a:solidFill>
                <a:latin typeface="Calibri (MS)"/>
                <a:ea typeface="Calibri (MS)"/>
                <a:cs typeface="Calibri (MS)"/>
                <a:sym typeface="Calibri (MS)"/>
              </a:rPr>
              <a:t>urity Operations Center for Threat Detection &amp; Response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1346835" y="5902540"/>
            <a:ext cx="4215284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Theme</a:t>
            </a:r>
          </a:p>
          <a:p>
            <a:pPr algn="l">
              <a:lnSpc>
                <a:spcPts val="2834"/>
              </a:lnSpc>
            </a:pPr>
            <a:r>
              <a:rPr lang="en-US" b="true" sz="2024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Cybersecurity &amp; Anomaly Detection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230866" y="5607367"/>
            <a:ext cx="3653498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idea</a:t>
            </a:r>
          </a:p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.Detect → Analyze → Prioritize → Respond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1076432" y="5654992"/>
            <a:ext cx="3502022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Focus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AI-p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owered threat detection and intelligent incident response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102995" y="9692678"/>
            <a:ext cx="2572293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1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3417078" y="480060"/>
            <a:ext cx="4060746" cy="5124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  <a:spcBef>
                <a:spcPct val="0"/>
              </a:spcBef>
            </a:pP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</a:t>
            </a:r>
            <a:r>
              <a:rPr lang="en-US" b="true" sz="2700">
                <a:solidFill>
                  <a:srgbClr val="000000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am Name – FRESHERSFTW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9153" y="521965"/>
            <a:ext cx="16512450" cy="1726687"/>
          </a:xfrm>
          <a:custGeom>
            <a:avLst/>
            <a:gdLst/>
            <a:ahLst/>
            <a:cxnLst/>
            <a:rect r="r" b="b" t="t" l="l"/>
            <a:pathLst>
              <a:path h="1726687" w="16512450">
                <a:moveTo>
                  <a:pt x="0" y="0"/>
                </a:moveTo>
                <a:lnTo>
                  <a:pt x="16512449" y="0"/>
                </a:lnTo>
                <a:lnTo>
                  <a:pt x="16512449" y="1726687"/>
                </a:lnTo>
                <a:lnTo>
                  <a:pt x="0" y="1726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556405" y="2896194"/>
            <a:ext cx="3665472" cy="1590443"/>
            <a:chOff x="0" y="0"/>
            <a:chExt cx="4630407" cy="20091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30420" cy="2009140"/>
            </a:xfrm>
            <a:custGeom>
              <a:avLst/>
              <a:gdLst/>
              <a:ahLst/>
              <a:cxnLst/>
              <a:rect r="r" b="b" t="t" l="l"/>
              <a:pathLst>
                <a:path h="2009140" w="4630420">
                  <a:moveTo>
                    <a:pt x="0" y="0"/>
                  </a:moveTo>
                  <a:lnTo>
                    <a:pt x="4630420" y="0"/>
                  </a:lnTo>
                  <a:lnTo>
                    <a:pt x="4630420" y="2009140"/>
                  </a:lnTo>
                  <a:lnTo>
                    <a:pt x="0" y="2009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378240" y="2830634"/>
            <a:ext cx="3899730" cy="1721564"/>
          </a:xfrm>
          <a:custGeom>
            <a:avLst/>
            <a:gdLst/>
            <a:ahLst/>
            <a:cxnLst/>
            <a:rect r="r" b="b" t="t" l="l"/>
            <a:pathLst>
              <a:path h="1721564" w="3899730">
                <a:moveTo>
                  <a:pt x="0" y="0"/>
                </a:moveTo>
                <a:lnTo>
                  <a:pt x="3899730" y="0"/>
                </a:lnTo>
                <a:lnTo>
                  <a:pt x="3899730" y="1721564"/>
                </a:lnTo>
                <a:lnTo>
                  <a:pt x="0" y="17215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292304" y="2896194"/>
            <a:ext cx="3816568" cy="1656004"/>
            <a:chOff x="0" y="0"/>
            <a:chExt cx="4630407" cy="20091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630420" cy="2009140"/>
            </a:xfrm>
            <a:custGeom>
              <a:avLst/>
              <a:gdLst/>
              <a:ahLst/>
              <a:cxnLst/>
              <a:rect r="r" b="b" t="t" l="l"/>
              <a:pathLst>
                <a:path h="2009140" w="4630420">
                  <a:moveTo>
                    <a:pt x="0" y="0"/>
                  </a:moveTo>
                  <a:lnTo>
                    <a:pt x="4630420" y="0"/>
                  </a:lnTo>
                  <a:lnTo>
                    <a:pt x="4630420" y="2009140"/>
                  </a:lnTo>
                  <a:lnTo>
                    <a:pt x="0" y="20091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9237819" y="2830634"/>
            <a:ext cx="3954979" cy="1745954"/>
          </a:xfrm>
          <a:custGeom>
            <a:avLst/>
            <a:gdLst/>
            <a:ahLst/>
            <a:cxnLst/>
            <a:rect r="r" b="b" t="t" l="l"/>
            <a:pathLst>
              <a:path h="1745954" w="3954979">
                <a:moveTo>
                  <a:pt x="0" y="0"/>
                </a:moveTo>
                <a:lnTo>
                  <a:pt x="3954979" y="0"/>
                </a:lnTo>
                <a:lnTo>
                  <a:pt x="3954979" y="1745953"/>
                </a:lnTo>
                <a:lnTo>
                  <a:pt x="0" y="174595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65406" y="5647137"/>
            <a:ext cx="2890359" cy="1432082"/>
          </a:xfrm>
          <a:custGeom>
            <a:avLst/>
            <a:gdLst/>
            <a:ahLst/>
            <a:cxnLst/>
            <a:rect r="r" b="b" t="t" l="l"/>
            <a:pathLst>
              <a:path h="1432082" w="2890359">
                <a:moveTo>
                  <a:pt x="0" y="0"/>
                </a:moveTo>
                <a:lnTo>
                  <a:pt x="2890359" y="0"/>
                </a:lnTo>
                <a:lnTo>
                  <a:pt x="2890359" y="1432081"/>
                </a:lnTo>
                <a:lnTo>
                  <a:pt x="0" y="1432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3412940" y="613105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897515" y="5684046"/>
            <a:ext cx="2867130" cy="1420572"/>
          </a:xfrm>
          <a:custGeom>
            <a:avLst/>
            <a:gdLst/>
            <a:ahLst/>
            <a:cxnLst/>
            <a:rect r="r" b="b" t="t" l="l"/>
            <a:pathLst>
              <a:path h="1420572" w="2867130">
                <a:moveTo>
                  <a:pt x="0" y="0"/>
                </a:moveTo>
                <a:lnTo>
                  <a:pt x="2867130" y="0"/>
                </a:lnTo>
                <a:lnTo>
                  <a:pt x="2867130" y="1420573"/>
                </a:lnTo>
                <a:lnTo>
                  <a:pt x="0" y="1420573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6980308" y="613105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7320541" y="5667792"/>
            <a:ext cx="2932743" cy="1453082"/>
          </a:xfrm>
          <a:custGeom>
            <a:avLst/>
            <a:gdLst/>
            <a:ahLst/>
            <a:cxnLst/>
            <a:rect r="r" b="b" t="t" l="l"/>
            <a:pathLst>
              <a:path h="1453082" w="2932743">
                <a:moveTo>
                  <a:pt x="0" y="0"/>
                </a:moveTo>
                <a:lnTo>
                  <a:pt x="2932742" y="0"/>
                </a:lnTo>
                <a:lnTo>
                  <a:pt x="2932742" y="1453081"/>
                </a:lnTo>
                <a:lnTo>
                  <a:pt x="0" y="1453081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377108" y="613105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0809179" y="5553916"/>
            <a:ext cx="3104818" cy="1538339"/>
          </a:xfrm>
          <a:custGeom>
            <a:avLst/>
            <a:gdLst/>
            <a:ahLst/>
            <a:cxnLst/>
            <a:rect r="r" b="b" t="t" l="l"/>
            <a:pathLst>
              <a:path h="1538339" w="3104818">
                <a:moveTo>
                  <a:pt x="0" y="0"/>
                </a:moveTo>
                <a:lnTo>
                  <a:pt x="3104818" y="0"/>
                </a:lnTo>
                <a:lnTo>
                  <a:pt x="3104818" y="1538339"/>
                </a:lnTo>
                <a:lnTo>
                  <a:pt x="0" y="1538339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073221" y="6076198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4373898" y="5465724"/>
            <a:ext cx="3106317" cy="1539082"/>
          </a:xfrm>
          <a:custGeom>
            <a:avLst/>
            <a:gdLst/>
            <a:ahLst/>
            <a:cxnLst/>
            <a:rect r="r" b="b" t="t" l="l"/>
            <a:pathLst>
              <a:path h="1539082" w="3106317">
                <a:moveTo>
                  <a:pt x="0" y="0"/>
                </a:moveTo>
                <a:lnTo>
                  <a:pt x="3106317" y="0"/>
                </a:lnTo>
                <a:lnTo>
                  <a:pt x="3106317" y="1539082"/>
                </a:lnTo>
                <a:lnTo>
                  <a:pt x="0" y="1539082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9" id="19"/>
          <p:cNvSpPr txBox="true"/>
          <p:nvPr/>
        </p:nvSpPr>
        <p:spPr>
          <a:xfrm rot="0">
            <a:off x="1102995" y="547497"/>
            <a:ext cx="469491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Problem Statement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2061472" y="1528420"/>
            <a:ext cx="61479" cy="39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79933" y="6133148"/>
            <a:ext cx="1747183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Events 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515761" y="6118385"/>
            <a:ext cx="165788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Mu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ltiple Alerts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30427" y="1528420"/>
            <a:ext cx="1008644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Trad</a:t>
            </a: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itional SOC monitoring faces challenges in identifying and responding to security threats.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7838517" y="6078293"/>
            <a:ext cx="1814691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Manual Analysis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302649" y="6078293"/>
            <a:ext cx="204847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Delay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 Detection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4802523" y="5990473"/>
            <a:ext cx="1979712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ential Damage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556405" y="3071423"/>
            <a:ext cx="3650262" cy="1152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52"/>
              </a:lnSpc>
            </a:pPr>
            <a:r>
              <a:rPr lang="en-US" b="true" sz="2293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</a:t>
            </a:r>
            <a:r>
              <a:rPr lang="en-US" b="true" sz="2293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ert Overload</a:t>
            </a:r>
          </a:p>
          <a:p>
            <a:pPr algn="l">
              <a:lnSpc>
                <a:spcPts val="2064"/>
              </a:lnSpc>
            </a:pPr>
            <a:r>
              <a:rPr lang="en-US" sz="172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Large numbers of security alerts make it difficult to identify which threats require immediate attention.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9292304" y="2964136"/>
            <a:ext cx="4020689" cy="135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Manual Investigation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l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ogs require time-consuming analysis to determine whether an event is actually malicious.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102995" y="9692678"/>
            <a:ext cx="2572293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2</a:t>
            </a:r>
          </a:p>
        </p:txBody>
      </p:sp>
      <p:sp>
        <p:nvSpPr>
          <p:cNvPr name="Freeform 30" id="30"/>
          <p:cNvSpPr/>
          <p:nvPr/>
        </p:nvSpPr>
        <p:spPr>
          <a:xfrm flipH="false" flipV="false" rot="0">
            <a:off x="4652289" y="2896194"/>
            <a:ext cx="3899730" cy="1721564"/>
          </a:xfrm>
          <a:custGeom>
            <a:avLst/>
            <a:gdLst/>
            <a:ahLst/>
            <a:cxnLst/>
            <a:rect r="r" b="b" t="t" l="l"/>
            <a:pathLst>
              <a:path h="1721564" w="3899730">
                <a:moveTo>
                  <a:pt x="0" y="0"/>
                </a:moveTo>
                <a:lnTo>
                  <a:pt x="3899730" y="0"/>
                </a:lnTo>
                <a:lnTo>
                  <a:pt x="3899730" y="1721564"/>
                </a:lnTo>
                <a:lnTo>
                  <a:pt x="0" y="172156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1" id="31"/>
          <p:cNvSpPr txBox="true"/>
          <p:nvPr/>
        </p:nvSpPr>
        <p:spPr>
          <a:xfrm rot="0">
            <a:off x="4854446" y="2968773"/>
            <a:ext cx="3557491" cy="14504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72"/>
              </a:lnSpc>
            </a:pPr>
            <a:r>
              <a:rPr lang="en-US" b="true" sz="2893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Slow R</a:t>
            </a:r>
            <a:r>
              <a:rPr lang="en-US" b="true" sz="2893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esponse</a:t>
            </a:r>
          </a:p>
          <a:p>
            <a:pPr algn="l">
              <a:lnSpc>
                <a:spcPts val="2604"/>
              </a:lnSpc>
            </a:pPr>
            <a:r>
              <a:rPr lang="en-US" sz="217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Ma</a:t>
            </a:r>
            <a:r>
              <a:rPr lang="en-US" sz="217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nual investigation and triage can delay the response to suspicious activity.</a:t>
            </a:r>
          </a:p>
        </p:txBody>
      </p:sp>
      <p:sp>
        <p:nvSpPr>
          <p:cNvPr name="Freeform 32" id="32"/>
          <p:cNvSpPr/>
          <p:nvPr/>
        </p:nvSpPr>
        <p:spPr>
          <a:xfrm flipH="false" flipV="false" rot="0">
            <a:off x="13878598" y="2740683"/>
            <a:ext cx="3954979" cy="1745954"/>
          </a:xfrm>
          <a:custGeom>
            <a:avLst/>
            <a:gdLst/>
            <a:ahLst/>
            <a:cxnLst/>
            <a:rect r="r" b="b" t="t" l="l"/>
            <a:pathLst>
              <a:path h="1745954" w="3954979">
                <a:moveTo>
                  <a:pt x="0" y="0"/>
                </a:moveTo>
                <a:lnTo>
                  <a:pt x="3954979" y="0"/>
                </a:lnTo>
                <a:lnTo>
                  <a:pt x="3954979" y="1745954"/>
                </a:lnTo>
                <a:lnTo>
                  <a:pt x="0" y="1745954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3" id="33"/>
          <p:cNvSpPr txBox="true"/>
          <p:nvPr/>
        </p:nvSpPr>
        <p:spPr>
          <a:xfrm rot="0">
            <a:off x="14006703" y="2866374"/>
            <a:ext cx="3764479" cy="13573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Atta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ck vs Normal Activity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Legitimate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activity can look similar to malicious behavior, making accurate detection difficult.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296927" y="8521048"/>
            <a:ext cx="14897872" cy="5429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69"/>
              </a:lnSpc>
              <a:spcBef>
                <a:spcPct val="0"/>
              </a:spcBef>
            </a:pPr>
            <a:r>
              <a:rPr lang="en-US" sz="32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59% </a:t>
            </a:r>
            <a:r>
              <a:rPr lang="en-US" sz="3224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of security professionals report having too many security reports.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408" y="617220"/>
            <a:ext cx="16322040" cy="960120"/>
          </a:xfrm>
          <a:custGeom>
            <a:avLst/>
            <a:gdLst/>
            <a:ahLst/>
            <a:cxnLst/>
            <a:rect r="r" b="b" t="t" l="l"/>
            <a:pathLst>
              <a:path h="960120" w="16322040">
                <a:moveTo>
                  <a:pt x="0" y="0"/>
                </a:moveTo>
                <a:lnTo>
                  <a:pt x="16322040" y="0"/>
                </a:lnTo>
                <a:lnTo>
                  <a:pt x="16322040" y="960120"/>
                </a:lnTo>
                <a:lnTo>
                  <a:pt x="0" y="960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5851" y="2093333"/>
            <a:ext cx="3974768" cy="2946068"/>
            <a:chOff x="0" y="0"/>
            <a:chExt cx="3533127" cy="2618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533140" cy="2618740"/>
            </a:xfrm>
            <a:custGeom>
              <a:avLst/>
              <a:gdLst/>
              <a:ahLst/>
              <a:cxnLst/>
              <a:rect r="r" b="b" t="t" l="l"/>
              <a:pathLst>
                <a:path h="2618740" w="3533140">
                  <a:moveTo>
                    <a:pt x="0" y="0"/>
                  </a:moveTo>
                  <a:lnTo>
                    <a:pt x="3533140" y="0"/>
                  </a:lnTo>
                  <a:lnTo>
                    <a:pt x="3533140" y="2618740"/>
                  </a:lnTo>
                  <a:lnTo>
                    <a:pt x="0" y="2618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40589" y="2023581"/>
            <a:ext cx="4045263" cy="3016563"/>
          </a:xfrm>
          <a:custGeom>
            <a:avLst/>
            <a:gdLst/>
            <a:ahLst/>
            <a:cxnLst/>
            <a:rect r="r" b="b" t="t" l="l"/>
            <a:pathLst>
              <a:path h="3016563" w="4045263">
                <a:moveTo>
                  <a:pt x="0" y="0"/>
                </a:moveTo>
                <a:lnTo>
                  <a:pt x="4045263" y="0"/>
                </a:lnTo>
                <a:lnTo>
                  <a:pt x="4045263" y="3016563"/>
                </a:lnTo>
                <a:lnTo>
                  <a:pt x="0" y="30165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2994" y="2100477"/>
            <a:ext cx="216013" cy="2931781"/>
            <a:chOff x="0" y="0"/>
            <a:chExt cx="192011" cy="26060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" cy="2606040"/>
            </a:xfrm>
            <a:custGeom>
              <a:avLst/>
              <a:gdLst/>
              <a:ahLst/>
              <a:cxnLst/>
              <a:rect r="r" b="b" t="t" l="l"/>
              <a:pathLst>
                <a:path h="260604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606040"/>
                  </a:lnTo>
                  <a:lnTo>
                    <a:pt x="0" y="2606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42987" y="2125980"/>
            <a:ext cx="96012" cy="2811780"/>
          </a:xfrm>
          <a:custGeom>
            <a:avLst/>
            <a:gdLst/>
            <a:ahLst/>
            <a:cxnLst/>
            <a:rect r="r" b="b" t="t" l="l"/>
            <a:pathLst>
              <a:path h="2811780" w="96012">
                <a:moveTo>
                  <a:pt x="0" y="0"/>
                </a:moveTo>
                <a:lnTo>
                  <a:pt x="96012" y="0"/>
                </a:lnTo>
                <a:lnTo>
                  <a:pt x="96012" y="2811780"/>
                </a:lnTo>
                <a:lnTo>
                  <a:pt x="0" y="2811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5888" y="2372868"/>
            <a:ext cx="3223260" cy="2400300"/>
          </a:xfrm>
          <a:custGeom>
            <a:avLst/>
            <a:gdLst/>
            <a:ahLst/>
            <a:cxnLst/>
            <a:rect r="r" b="b" t="t" l="l"/>
            <a:pathLst>
              <a:path h="2400300" w="3223260">
                <a:moveTo>
                  <a:pt x="0" y="0"/>
                </a:moveTo>
                <a:lnTo>
                  <a:pt x="3223260" y="0"/>
                </a:lnTo>
                <a:lnTo>
                  <a:pt x="322326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5159231" y="2093333"/>
            <a:ext cx="3974768" cy="2946068"/>
            <a:chOff x="0" y="0"/>
            <a:chExt cx="3533127" cy="26187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533140" cy="2618740"/>
            </a:xfrm>
            <a:custGeom>
              <a:avLst/>
              <a:gdLst/>
              <a:ahLst/>
              <a:cxnLst/>
              <a:rect r="r" b="b" t="t" l="l"/>
              <a:pathLst>
                <a:path h="2618740" w="3533140">
                  <a:moveTo>
                    <a:pt x="0" y="0"/>
                  </a:moveTo>
                  <a:lnTo>
                    <a:pt x="3533140" y="0"/>
                  </a:lnTo>
                  <a:lnTo>
                    <a:pt x="3533140" y="2618740"/>
                  </a:lnTo>
                  <a:lnTo>
                    <a:pt x="0" y="2618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5123969" y="2023581"/>
            <a:ext cx="4045263" cy="3016563"/>
          </a:xfrm>
          <a:custGeom>
            <a:avLst/>
            <a:gdLst/>
            <a:ahLst/>
            <a:cxnLst/>
            <a:rect r="r" b="b" t="t" l="l"/>
            <a:pathLst>
              <a:path h="3016563" w="4045263">
                <a:moveTo>
                  <a:pt x="0" y="0"/>
                </a:moveTo>
                <a:lnTo>
                  <a:pt x="4045263" y="0"/>
                </a:lnTo>
                <a:lnTo>
                  <a:pt x="4045263" y="3016563"/>
                </a:lnTo>
                <a:lnTo>
                  <a:pt x="0" y="30165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5166374" y="2100477"/>
            <a:ext cx="216013" cy="2931781"/>
            <a:chOff x="0" y="0"/>
            <a:chExt cx="192011" cy="26060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" cy="2606040"/>
            </a:xfrm>
            <a:custGeom>
              <a:avLst/>
              <a:gdLst/>
              <a:ahLst/>
              <a:cxnLst/>
              <a:rect r="r" b="b" t="t" l="l"/>
              <a:pathLst>
                <a:path h="260604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606040"/>
                  </a:lnTo>
                  <a:lnTo>
                    <a:pt x="0" y="2606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5226368" y="2125980"/>
            <a:ext cx="96012" cy="2811780"/>
          </a:xfrm>
          <a:custGeom>
            <a:avLst/>
            <a:gdLst/>
            <a:ahLst/>
            <a:cxnLst/>
            <a:rect r="r" b="b" t="t" l="l"/>
            <a:pathLst>
              <a:path h="2811780" w="96012">
                <a:moveTo>
                  <a:pt x="0" y="0"/>
                </a:moveTo>
                <a:lnTo>
                  <a:pt x="96012" y="0"/>
                </a:lnTo>
                <a:lnTo>
                  <a:pt x="96012" y="2811780"/>
                </a:lnTo>
                <a:lnTo>
                  <a:pt x="0" y="2811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5569268" y="2372868"/>
            <a:ext cx="3223260" cy="2400300"/>
          </a:xfrm>
          <a:custGeom>
            <a:avLst/>
            <a:gdLst/>
            <a:ahLst/>
            <a:cxnLst/>
            <a:rect r="r" b="b" t="t" l="l"/>
            <a:pathLst>
              <a:path h="2400300" w="3223260">
                <a:moveTo>
                  <a:pt x="0" y="0"/>
                </a:moveTo>
                <a:lnTo>
                  <a:pt x="3223260" y="0"/>
                </a:lnTo>
                <a:lnTo>
                  <a:pt x="322326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342611" y="2093333"/>
            <a:ext cx="3974768" cy="2946068"/>
            <a:chOff x="0" y="0"/>
            <a:chExt cx="3533127" cy="26187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3533140" cy="2618740"/>
            </a:xfrm>
            <a:custGeom>
              <a:avLst/>
              <a:gdLst/>
              <a:ahLst/>
              <a:cxnLst/>
              <a:rect r="r" b="b" t="t" l="l"/>
              <a:pathLst>
                <a:path h="2618740" w="3533140">
                  <a:moveTo>
                    <a:pt x="0" y="0"/>
                  </a:moveTo>
                  <a:lnTo>
                    <a:pt x="3533140" y="0"/>
                  </a:lnTo>
                  <a:lnTo>
                    <a:pt x="3533140" y="2618740"/>
                  </a:lnTo>
                  <a:lnTo>
                    <a:pt x="0" y="2618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9307349" y="2023581"/>
            <a:ext cx="4045263" cy="3016563"/>
          </a:xfrm>
          <a:custGeom>
            <a:avLst/>
            <a:gdLst/>
            <a:ahLst/>
            <a:cxnLst/>
            <a:rect r="r" b="b" t="t" l="l"/>
            <a:pathLst>
              <a:path h="3016563" w="4045263">
                <a:moveTo>
                  <a:pt x="0" y="0"/>
                </a:moveTo>
                <a:lnTo>
                  <a:pt x="4045263" y="0"/>
                </a:lnTo>
                <a:lnTo>
                  <a:pt x="4045263" y="3016563"/>
                </a:lnTo>
                <a:lnTo>
                  <a:pt x="0" y="30165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349754" y="2100477"/>
            <a:ext cx="216013" cy="2931781"/>
            <a:chOff x="0" y="0"/>
            <a:chExt cx="192011" cy="26060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024" cy="2606040"/>
            </a:xfrm>
            <a:custGeom>
              <a:avLst/>
              <a:gdLst/>
              <a:ahLst/>
              <a:cxnLst/>
              <a:rect r="r" b="b" t="t" l="l"/>
              <a:pathLst>
                <a:path h="260604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606040"/>
                  </a:lnTo>
                  <a:lnTo>
                    <a:pt x="0" y="2606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9409748" y="2125980"/>
            <a:ext cx="96012" cy="2811780"/>
          </a:xfrm>
          <a:custGeom>
            <a:avLst/>
            <a:gdLst/>
            <a:ahLst/>
            <a:cxnLst/>
            <a:rect r="r" b="b" t="t" l="l"/>
            <a:pathLst>
              <a:path h="2811780" w="96012">
                <a:moveTo>
                  <a:pt x="0" y="0"/>
                </a:moveTo>
                <a:lnTo>
                  <a:pt x="96012" y="0"/>
                </a:lnTo>
                <a:lnTo>
                  <a:pt x="96012" y="2811780"/>
                </a:lnTo>
                <a:lnTo>
                  <a:pt x="0" y="2811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752648" y="2372868"/>
            <a:ext cx="3223260" cy="2400300"/>
          </a:xfrm>
          <a:custGeom>
            <a:avLst/>
            <a:gdLst/>
            <a:ahLst/>
            <a:cxnLst/>
            <a:rect r="r" b="b" t="t" l="l"/>
            <a:pathLst>
              <a:path h="2400300" w="3223260">
                <a:moveTo>
                  <a:pt x="0" y="0"/>
                </a:moveTo>
                <a:lnTo>
                  <a:pt x="3223259" y="0"/>
                </a:lnTo>
                <a:lnTo>
                  <a:pt x="3223259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3525991" y="2093333"/>
            <a:ext cx="3974768" cy="2946068"/>
            <a:chOff x="0" y="0"/>
            <a:chExt cx="3533127" cy="261872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3533140" cy="2618740"/>
            </a:xfrm>
            <a:custGeom>
              <a:avLst/>
              <a:gdLst/>
              <a:ahLst/>
              <a:cxnLst/>
              <a:rect r="r" b="b" t="t" l="l"/>
              <a:pathLst>
                <a:path h="2618740" w="3533140">
                  <a:moveTo>
                    <a:pt x="0" y="0"/>
                  </a:moveTo>
                  <a:lnTo>
                    <a:pt x="3533140" y="0"/>
                  </a:lnTo>
                  <a:lnTo>
                    <a:pt x="3533140" y="2618740"/>
                  </a:lnTo>
                  <a:lnTo>
                    <a:pt x="0" y="2618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3490729" y="2023581"/>
            <a:ext cx="4045263" cy="3016563"/>
          </a:xfrm>
          <a:custGeom>
            <a:avLst/>
            <a:gdLst/>
            <a:ahLst/>
            <a:cxnLst/>
            <a:rect r="r" b="b" t="t" l="l"/>
            <a:pathLst>
              <a:path h="3016563" w="4045263">
                <a:moveTo>
                  <a:pt x="0" y="0"/>
                </a:moveTo>
                <a:lnTo>
                  <a:pt x="4045263" y="0"/>
                </a:lnTo>
                <a:lnTo>
                  <a:pt x="4045263" y="3016563"/>
                </a:lnTo>
                <a:lnTo>
                  <a:pt x="0" y="30165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3533134" y="2100477"/>
            <a:ext cx="216013" cy="2931781"/>
            <a:chOff x="0" y="0"/>
            <a:chExt cx="192011" cy="260602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2024" cy="2606040"/>
            </a:xfrm>
            <a:custGeom>
              <a:avLst/>
              <a:gdLst/>
              <a:ahLst/>
              <a:cxnLst/>
              <a:rect r="r" b="b" t="t" l="l"/>
              <a:pathLst>
                <a:path h="260604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606040"/>
                  </a:lnTo>
                  <a:lnTo>
                    <a:pt x="0" y="26060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3593127" y="2125980"/>
            <a:ext cx="96012" cy="2811780"/>
          </a:xfrm>
          <a:custGeom>
            <a:avLst/>
            <a:gdLst/>
            <a:ahLst/>
            <a:cxnLst/>
            <a:rect r="r" b="b" t="t" l="l"/>
            <a:pathLst>
              <a:path h="2811780" w="96012">
                <a:moveTo>
                  <a:pt x="0" y="0"/>
                </a:moveTo>
                <a:lnTo>
                  <a:pt x="96012" y="0"/>
                </a:lnTo>
                <a:lnTo>
                  <a:pt x="96012" y="2811780"/>
                </a:lnTo>
                <a:lnTo>
                  <a:pt x="0" y="28117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3936028" y="2372868"/>
            <a:ext cx="3223260" cy="2400300"/>
          </a:xfrm>
          <a:custGeom>
            <a:avLst/>
            <a:gdLst/>
            <a:ahLst/>
            <a:cxnLst/>
            <a:rect r="r" b="b" t="t" l="l"/>
            <a:pathLst>
              <a:path h="2400300" w="3223260">
                <a:moveTo>
                  <a:pt x="0" y="0"/>
                </a:moveTo>
                <a:lnTo>
                  <a:pt x="3223260" y="0"/>
                </a:lnTo>
                <a:lnTo>
                  <a:pt x="3223260" y="2400300"/>
                </a:lnTo>
                <a:lnTo>
                  <a:pt x="0" y="24003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2827511" y="5796653"/>
            <a:ext cx="12615848" cy="1985948"/>
            <a:chOff x="0" y="0"/>
            <a:chExt cx="11214087" cy="176528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1214100" cy="1765300"/>
            </a:xfrm>
            <a:custGeom>
              <a:avLst/>
              <a:gdLst/>
              <a:ahLst/>
              <a:cxnLst/>
              <a:rect r="r" b="b" t="t" l="l"/>
              <a:pathLst>
                <a:path h="1765300" w="11214100">
                  <a:moveTo>
                    <a:pt x="0" y="0"/>
                  </a:moveTo>
                  <a:lnTo>
                    <a:pt x="11214100" y="0"/>
                  </a:lnTo>
                  <a:lnTo>
                    <a:pt x="11214100" y="1765300"/>
                  </a:lnTo>
                  <a:lnTo>
                    <a:pt x="0" y="176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2792249" y="5726901"/>
            <a:ext cx="12686343" cy="2056443"/>
          </a:xfrm>
          <a:custGeom>
            <a:avLst/>
            <a:gdLst/>
            <a:ahLst/>
            <a:cxnLst/>
            <a:rect r="r" b="b" t="t" l="l"/>
            <a:pathLst>
              <a:path h="2056443" w="12686343">
                <a:moveTo>
                  <a:pt x="0" y="0"/>
                </a:moveTo>
                <a:lnTo>
                  <a:pt x="12686343" y="0"/>
                </a:lnTo>
                <a:lnTo>
                  <a:pt x="12686343" y="2056443"/>
                </a:lnTo>
                <a:lnTo>
                  <a:pt x="0" y="205644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2834654" y="5803797"/>
            <a:ext cx="216013" cy="1971661"/>
            <a:chOff x="0" y="0"/>
            <a:chExt cx="192011" cy="175258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2024" cy="1752600"/>
            </a:xfrm>
            <a:custGeom>
              <a:avLst/>
              <a:gdLst/>
              <a:ahLst/>
              <a:cxnLst/>
              <a:rect r="r" b="b" t="t" l="l"/>
              <a:pathLst>
                <a:path h="175260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6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2894648" y="5829300"/>
            <a:ext cx="96012" cy="1851660"/>
          </a:xfrm>
          <a:custGeom>
            <a:avLst/>
            <a:gdLst/>
            <a:ahLst/>
            <a:cxnLst/>
            <a:rect r="r" b="b" t="t" l="l"/>
            <a:pathLst>
              <a:path h="1851660" w="96012">
                <a:moveTo>
                  <a:pt x="0" y="0"/>
                </a:moveTo>
                <a:lnTo>
                  <a:pt x="96012" y="0"/>
                </a:lnTo>
                <a:lnTo>
                  <a:pt x="96012" y="1851660"/>
                </a:lnTo>
                <a:lnTo>
                  <a:pt x="0" y="1851660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3237548" y="6076188"/>
            <a:ext cx="11864340" cy="1440180"/>
          </a:xfrm>
          <a:custGeom>
            <a:avLst/>
            <a:gdLst/>
            <a:ahLst/>
            <a:cxnLst/>
            <a:rect r="r" b="b" t="t" l="l"/>
            <a:pathLst>
              <a:path h="1440180" w="11864340">
                <a:moveTo>
                  <a:pt x="0" y="0"/>
                </a:moveTo>
                <a:lnTo>
                  <a:pt x="11864340" y="0"/>
                </a:lnTo>
                <a:lnTo>
                  <a:pt x="11864340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102995" y="547497"/>
            <a:ext cx="690130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Existing Solutions &amp; The Gap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23975" y="2494971"/>
            <a:ext cx="3609494" cy="38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</a:t>
            </a:r>
            <a:r>
              <a:rPr lang="en-US" b="true" sz="2025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aditional SOC Monitoring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3366135" y="6055309"/>
            <a:ext cx="10602087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Identified gap</a:t>
            </a:r>
          </a:p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Most existing approaches either generate alerts or simulate attacks. Our AI SOC Simulator connects attack generation, intelligent analysis, alert prioritization and response in one workflow.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5697855" y="2494971"/>
            <a:ext cx="2758273" cy="38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4"/>
              </a:lnSpc>
            </a:pPr>
            <a:r>
              <a:rPr lang="en-US" b="true" sz="2024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Ru</a:t>
            </a:r>
            <a:r>
              <a:rPr lang="en-US" b="true" sz="2024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le-Bas</a:t>
            </a:r>
            <a:r>
              <a:rPr lang="en-US" b="true" sz="2024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ed Detection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9803892" y="2494971"/>
            <a:ext cx="2503194" cy="3819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SIEM</a:t>
            </a:r>
            <a:r>
              <a:rPr lang="en-US" b="true" sz="2025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/ Secur</a:t>
            </a:r>
            <a:r>
              <a:rPr lang="en-US" b="true" sz="2025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ity Tools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13968222" y="2533071"/>
            <a:ext cx="2987288" cy="3381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b="true" sz="2024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</a:t>
            </a:r>
            <a:r>
              <a:rPr lang="en-US" b="true" sz="2024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curity S</a:t>
            </a:r>
            <a:r>
              <a:rPr lang="en-US" b="true" sz="2024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imulators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395479" y="3234881"/>
            <a:ext cx="2766465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Does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: Manual monitoring and investigation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Gap: Slow and analyst-dependent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5523095" y="3234881"/>
            <a:ext cx="316512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Does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: Detects known attack patterns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Gap: Limited ability to recognize unfamiliar behavior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824085" y="3188589"/>
            <a:ext cx="3295169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Does</a:t>
            </a:r>
            <a:r>
              <a:rPr lang="en-US" sz="2024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: Collect and display security events</a:t>
            </a:r>
          </a:p>
          <a:p>
            <a:pPr algn="l">
              <a:lnSpc>
                <a:spcPts val="2429"/>
              </a:lnSpc>
            </a:pPr>
            <a:r>
              <a:rPr lang="en-US" sz="2024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Gap: Can create large volumes of alerts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3864523" y="2934843"/>
            <a:ext cx="3194685" cy="1838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Does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: Demonstrate cybersecurity attacks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Gap: Often focus on attack simulation rather than AI-assisted detection, triage and response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02995" y="9692678"/>
            <a:ext cx="2572293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3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9153" y="521965"/>
            <a:ext cx="16512535" cy="1726687"/>
          </a:xfrm>
          <a:custGeom>
            <a:avLst/>
            <a:gdLst/>
            <a:ahLst/>
            <a:cxnLst/>
            <a:rect r="r" b="b" t="t" l="l"/>
            <a:pathLst>
              <a:path h="1726687" w="16512535">
                <a:moveTo>
                  <a:pt x="0" y="0"/>
                </a:moveTo>
                <a:lnTo>
                  <a:pt x="16512535" y="0"/>
                </a:lnTo>
                <a:lnTo>
                  <a:pt x="16512535" y="1726687"/>
                </a:lnTo>
                <a:lnTo>
                  <a:pt x="0" y="1726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1591" y="2230493"/>
            <a:ext cx="7266608" cy="3083228"/>
            <a:chOff x="0" y="0"/>
            <a:chExt cx="6459207" cy="27406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59220" cy="2740660"/>
            </a:xfrm>
            <a:custGeom>
              <a:avLst/>
              <a:gdLst/>
              <a:ahLst/>
              <a:cxnLst/>
              <a:rect r="r" b="b" t="t" l="l"/>
              <a:pathLst>
                <a:path h="2740660" w="6459220">
                  <a:moveTo>
                    <a:pt x="0" y="0"/>
                  </a:moveTo>
                  <a:lnTo>
                    <a:pt x="6459220" y="0"/>
                  </a:lnTo>
                  <a:lnTo>
                    <a:pt x="6459220" y="2740660"/>
                  </a:lnTo>
                  <a:lnTo>
                    <a:pt x="0" y="274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46329" y="2160741"/>
            <a:ext cx="7337103" cy="3153723"/>
          </a:xfrm>
          <a:custGeom>
            <a:avLst/>
            <a:gdLst/>
            <a:ahLst/>
            <a:cxnLst/>
            <a:rect r="r" b="b" t="t" l="l"/>
            <a:pathLst>
              <a:path h="3153723" w="7337103">
                <a:moveTo>
                  <a:pt x="0" y="0"/>
                </a:moveTo>
                <a:lnTo>
                  <a:pt x="7337103" y="0"/>
                </a:lnTo>
                <a:lnTo>
                  <a:pt x="7337103" y="3153723"/>
                </a:lnTo>
                <a:lnTo>
                  <a:pt x="0" y="31537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88734" y="2237637"/>
            <a:ext cx="216013" cy="3068941"/>
            <a:chOff x="0" y="0"/>
            <a:chExt cx="192011" cy="2727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" cy="2727960"/>
            </a:xfrm>
            <a:custGeom>
              <a:avLst/>
              <a:gdLst/>
              <a:ahLst/>
              <a:cxnLst/>
              <a:rect r="r" b="b" t="t" l="l"/>
              <a:pathLst>
                <a:path h="27279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727960"/>
                  </a:lnTo>
                  <a:lnTo>
                    <a:pt x="0" y="272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48728" y="2263140"/>
            <a:ext cx="96012" cy="2948940"/>
          </a:xfrm>
          <a:custGeom>
            <a:avLst/>
            <a:gdLst/>
            <a:ahLst/>
            <a:cxnLst/>
            <a:rect r="r" b="b" t="t" l="l"/>
            <a:pathLst>
              <a:path h="2948940" w="96012">
                <a:moveTo>
                  <a:pt x="0" y="0"/>
                </a:moveTo>
                <a:lnTo>
                  <a:pt x="96012" y="0"/>
                </a:lnTo>
                <a:lnTo>
                  <a:pt x="96012" y="2948940"/>
                </a:lnTo>
                <a:lnTo>
                  <a:pt x="0" y="29489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1627" y="2510028"/>
            <a:ext cx="6515100" cy="2537460"/>
          </a:xfrm>
          <a:custGeom>
            <a:avLst/>
            <a:gdLst/>
            <a:ahLst/>
            <a:cxnLst/>
            <a:rect r="r" b="b" t="t" l="l"/>
            <a:pathLst>
              <a:path h="2537460" w="6515100">
                <a:moveTo>
                  <a:pt x="0" y="0"/>
                </a:moveTo>
                <a:lnTo>
                  <a:pt x="6515100" y="0"/>
                </a:lnTo>
                <a:lnTo>
                  <a:pt x="6515100" y="2537460"/>
                </a:lnTo>
                <a:lnTo>
                  <a:pt x="0" y="2537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8793971" y="2230493"/>
            <a:ext cx="7266608" cy="3083228"/>
            <a:chOff x="0" y="0"/>
            <a:chExt cx="6459207" cy="2740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459220" cy="2740660"/>
            </a:xfrm>
            <a:custGeom>
              <a:avLst/>
              <a:gdLst/>
              <a:ahLst/>
              <a:cxnLst/>
              <a:rect r="r" b="b" t="t" l="l"/>
              <a:pathLst>
                <a:path h="2740660" w="6459220">
                  <a:moveTo>
                    <a:pt x="0" y="0"/>
                  </a:moveTo>
                  <a:lnTo>
                    <a:pt x="6459220" y="0"/>
                  </a:lnTo>
                  <a:lnTo>
                    <a:pt x="6459220" y="2740660"/>
                  </a:lnTo>
                  <a:lnTo>
                    <a:pt x="0" y="274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8758709" y="2160741"/>
            <a:ext cx="7337103" cy="3153723"/>
          </a:xfrm>
          <a:custGeom>
            <a:avLst/>
            <a:gdLst/>
            <a:ahLst/>
            <a:cxnLst/>
            <a:rect r="r" b="b" t="t" l="l"/>
            <a:pathLst>
              <a:path h="3153723" w="7337103">
                <a:moveTo>
                  <a:pt x="0" y="0"/>
                </a:moveTo>
                <a:lnTo>
                  <a:pt x="7337103" y="0"/>
                </a:lnTo>
                <a:lnTo>
                  <a:pt x="7337103" y="3153723"/>
                </a:lnTo>
                <a:lnTo>
                  <a:pt x="0" y="31537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8801114" y="2237637"/>
            <a:ext cx="216013" cy="3068941"/>
            <a:chOff x="0" y="0"/>
            <a:chExt cx="192011" cy="27279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" cy="2727960"/>
            </a:xfrm>
            <a:custGeom>
              <a:avLst/>
              <a:gdLst/>
              <a:ahLst/>
              <a:cxnLst/>
              <a:rect r="r" b="b" t="t" l="l"/>
              <a:pathLst>
                <a:path h="27279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727960"/>
                  </a:lnTo>
                  <a:lnTo>
                    <a:pt x="0" y="272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8861108" y="2263140"/>
            <a:ext cx="96012" cy="2948940"/>
          </a:xfrm>
          <a:custGeom>
            <a:avLst/>
            <a:gdLst/>
            <a:ahLst/>
            <a:cxnLst/>
            <a:rect r="r" b="b" t="t" l="l"/>
            <a:pathLst>
              <a:path h="2948940" w="96012">
                <a:moveTo>
                  <a:pt x="0" y="0"/>
                </a:moveTo>
                <a:lnTo>
                  <a:pt x="96012" y="0"/>
                </a:lnTo>
                <a:lnTo>
                  <a:pt x="96012" y="2948940"/>
                </a:lnTo>
                <a:lnTo>
                  <a:pt x="0" y="29489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204008" y="2510028"/>
            <a:ext cx="6515100" cy="2537460"/>
          </a:xfrm>
          <a:custGeom>
            <a:avLst/>
            <a:gdLst/>
            <a:ahLst/>
            <a:cxnLst/>
            <a:rect r="r" b="b" t="t" l="l"/>
            <a:pathLst>
              <a:path h="2537460" w="6515100">
                <a:moveTo>
                  <a:pt x="0" y="0"/>
                </a:moveTo>
                <a:lnTo>
                  <a:pt x="6515100" y="0"/>
                </a:lnTo>
                <a:lnTo>
                  <a:pt x="6515100" y="2537460"/>
                </a:lnTo>
                <a:lnTo>
                  <a:pt x="0" y="2537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44431" y="6345293"/>
            <a:ext cx="3102431" cy="1231568"/>
            <a:chOff x="0" y="0"/>
            <a:chExt cx="2757716" cy="10947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757678" cy="1094740"/>
            </a:xfrm>
            <a:custGeom>
              <a:avLst/>
              <a:gdLst/>
              <a:ahLst/>
              <a:cxnLst/>
              <a:rect r="r" b="b" t="t" l="l"/>
              <a:pathLst>
                <a:path h="1094740" w="2757678">
                  <a:moveTo>
                    <a:pt x="0" y="0"/>
                  </a:moveTo>
                  <a:lnTo>
                    <a:pt x="2757678" y="0"/>
                  </a:lnTo>
                  <a:lnTo>
                    <a:pt x="2757678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09169" y="6275541"/>
            <a:ext cx="3172925" cy="1302063"/>
          </a:xfrm>
          <a:custGeom>
            <a:avLst/>
            <a:gdLst/>
            <a:ahLst/>
            <a:cxnLst/>
            <a:rect r="r" b="b" t="t" l="l"/>
            <a:pathLst>
              <a:path h="1302063" w="3172925">
                <a:moveTo>
                  <a:pt x="0" y="0"/>
                </a:moveTo>
                <a:lnTo>
                  <a:pt x="3172925" y="0"/>
                </a:lnTo>
                <a:lnTo>
                  <a:pt x="3172925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4074566" y="6654189"/>
            <a:ext cx="298309" cy="613777"/>
            <a:chOff x="0" y="0"/>
            <a:chExt cx="265163" cy="5455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4" b="2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4134574" y="667969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4314311" y="6345293"/>
            <a:ext cx="3102431" cy="1231568"/>
            <a:chOff x="0" y="0"/>
            <a:chExt cx="2757716" cy="10947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757678" cy="1094740"/>
            </a:xfrm>
            <a:custGeom>
              <a:avLst/>
              <a:gdLst/>
              <a:ahLst/>
              <a:cxnLst/>
              <a:rect r="r" b="b" t="t" l="l"/>
              <a:pathLst>
                <a:path h="1094740" w="2757678">
                  <a:moveTo>
                    <a:pt x="0" y="0"/>
                  </a:moveTo>
                  <a:lnTo>
                    <a:pt x="2757678" y="0"/>
                  </a:lnTo>
                  <a:lnTo>
                    <a:pt x="2757678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" b="1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4279063" y="6275541"/>
            <a:ext cx="3172925" cy="1302063"/>
          </a:xfrm>
          <a:custGeom>
            <a:avLst/>
            <a:gdLst/>
            <a:ahLst/>
            <a:cxnLst/>
            <a:rect r="r" b="b" t="t" l="l"/>
            <a:pathLst>
              <a:path h="1302063" w="3172925">
                <a:moveTo>
                  <a:pt x="0" y="0"/>
                </a:moveTo>
                <a:lnTo>
                  <a:pt x="3172926" y="0"/>
                </a:lnTo>
                <a:lnTo>
                  <a:pt x="3172926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7344475" y="6654189"/>
            <a:ext cx="298309" cy="613777"/>
            <a:chOff x="0" y="0"/>
            <a:chExt cx="265163" cy="5455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4" b="2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7404468" y="667969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7584205" y="6345293"/>
            <a:ext cx="3102431" cy="1231568"/>
            <a:chOff x="0" y="0"/>
            <a:chExt cx="2757716" cy="10947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757678" cy="1094740"/>
            </a:xfrm>
            <a:custGeom>
              <a:avLst/>
              <a:gdLst/>
              <a:ahLst/>
              <a:cxnLst/>
              <a:rect r="r" b="b" t="t" l="l"/>
              <a:pathLst>
                <a:path h="1094740" w="2757678">
                  <a:moveTo>
                    <a:pt x="0" y="0"/>
                  </a:moveTo>
                  <a:lnTo>
                    <a:pt x="2757678" y="0"/>
                  </a:lnTo>
                  <a:lnTo>
                    <a:pt x="2757678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" b="1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7548958" y="6275541"/>
            <a:ext cx="3172925" cy="1302063"/>
          </a:xfrm>
          <a:custGeom>
            <a:avLst/>
            <a:gdLst/>
            <a:ahLst/>
            <a:cxnLst/>
            <a:rect r="r" b="b" t="t" l="l"/>
            <a:pathLst>
              <a:path h="1302063" w="3172925">
                <a:moveTo>
                  <a:pt x="0" y="0"/>
                </a:moveTo>
                <a:lnTo>
                  <a:pt x="3172925" y="0"/>
                </a:lnTo>
                <a:lnTo>
                  <a:pt x="3172925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0614355" y="6654189"/>
            <a:ext cx="298309" cy="613777"/>
            <a:chOff x="0" y="0"/>
            <a:chExt cx="265163" cy="5455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4" b="2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0674363" y="667969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0854099" y="6345293"/>
            <a:ext cx="3102431" cy="1231568"/>
            <a:chOff x="0" y="0"/>
            <a:chExt cx="2757716" cy="10947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757678" cy="1094740"/>
            </a:xfrm>
            <a:custGeom>
              <a:avLst/>
              <a:gdLst/>
              <a:ahLst/>
              <a:cxnLst/>
              <a:rect r="r" b="b" t="t" l="l"/>
              <a:pathLst>
                <a:path h="1094740" w="2757678">
                  <a:moveTo>
                    <a:pt x="0" y="0"/>
                  </a:moveTo>
                  <a:lnTo>
                    <a:pt x="2757678" y="0"/>
                  </a:lnTo>
                  <a:lnTo>
                    <a:pt x="2757678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" b="1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0818852" y="6275541"/>
            <a:ext cx="3172925" cy="1302063"/>
          </a:xfrm>
          <a:custGeom>
            <a:avLst/>
            <a:gdLst/>
            <a:ahLst/>
            <a:cxnLst/>
            <a:rect r="r" b="b" t="t" l="l"/>
            <a:pathLst>
              <a:path h="1302063" w="3172925">
                <a:moveTo>
                  <a:pt x="0" y="0"/>
                </a:moveTo>
                <a:lnTo>
                  <a:pt x="3172925" y="0"/>
                </a:lnTo>
                <a:lnTo>
                  <a:pt x="3172925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3884250" y="6654189"/>
            <a:ext cx="298309" cy="613777"/>
            <a:chOff x="0" y="0"/>
            <a:chExt cx="265163" cy="5455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4" b="2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3944257" y="667969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4123994" y="6345293"/>
            <a:ext cx="3102431" cy="1231568"/>
            <a:chOff x="0" y="0"/>
            <a:chExt cx="2757716" cy="109472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757678" cy="1094740"/>
            </a:xfrm>
            <a:custGeom>
              <a:avLst/>
              <a:gdLst/>
              <a:ahLst/>
              <a:cxnLst/>
              <a:rect r="r" b="b" t="t" l="l"/>
              <a:pathLst>
                <a:path h="1094740" w="2757678">
                  <a:moveTo>
                    <a:pt x="0" y="0"/>
                  </a:moveTo>
                  <a:lnTo>
                    <a:pt x="2757678" y="0"/>
                  </a:lnTo>
                  <a:lnTo>
                    <a:pt x="2757678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-1" b="1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14088747" y="6275541"/>
            <a:ext cx="3172925" cy="1302063"/>
          </a:xfrm>
          <a:custGeom>
            <a:avLst/>
            <a:gdLst/>
            <a:ahLst/>
            <a:cxnLst/>
            <a:rect r="r" b="b" t="t" l="l"/>
            <a:pathLst>
              <a:path h="1302063" w="3172925">
                <a:moveTo>
                  <a:pt x="0" y="0"/>
                </a:moveTo>
                <a:lnTo>
                  <a:pt x="3172925" y="0"/>
                </a:lnTo>
                <a:lnTo>
                  <a:pt x="3172925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5" id="45"/>
          <p:cNvSpPr txBox="true"/>
          <p:nvPr/>
        </p:nvSpPr>
        <p:spPr>
          <a:xfrm rot="0">
            <a:off x="1102995" y="547497"/>
            <a:ext cx="443144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680096" y="1528420"/>
            <a:ext cx="61479" cy="39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736703" y="6701638"/>
            <a:ext cx="1640741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ecurity Event 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5332824" y="6701638"/>
            <a:ext cx="119943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Ana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lysis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30427" y="1528420"/>
            <a:ext cx="875484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An AI-d</a:t>
            </a: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riven SOC simulator for real-time threat detection, analysis and response.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8050131" y="6716285"/>
            <a:ext cx="1933992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Threat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Detection 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1681581" y="6769608"/>
            <a:ext cx="1433751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rt Priority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5201600" y="6701638"/>
            <a:ext cx="106102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20215" y="2546299"/>
            <a:ext cx="3346918" cy="400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789"/>
              </a:lnSpc>
            </a:pPr>
            <a:r>
              <a:rPr lang="en-US" b="true" sz="2324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Approach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9332595" y="2498674"/>
            <a:ext cx="4469644" cy="4457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54"/>
              </a:lnSpc>
            </a:pPr>
            <a:r>
              <a:rPr lang="en-US" b="true" sz="2324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Principle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680096" y="3584524"/>
            <a:ext cx="5623846" cy="938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Think: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“Let AI analyze suspicious activity, identify threats, and prioritize what needs attention.”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9307199" y="3434505"/>
            <a:ext cx="6243437" cy="1238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Th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e security event remains the input.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Our AI-powered SOC simulator adds an intelligent analysis layer that helps detect, classify, prioritize, and respond to potential threats.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02995" y="9692678"/>
            <a:ext cx="2572293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4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9181" y="1721858"/>
            <a:ext cx="16512492" cy="1358470"/>
          </a:xfrm>
          <a:custGeom>
            <a:avLst/>
            <a:gdLst/>
            <a:ahLst/>
            <a:cxnLst/>
            <a:rect r="r" b="b" t="t" l="l"/>
            <a:pathLst>
              <a:path h="1358470" w="16512492">
                <a:moveTo>
                  <a:pt x="0" y="0"/>
                </a:moveTo>
                <a:lnTo>
                  <a:pt x="16512493" y="0"/>
                </a:lnTo>
                <a:lnTo>
                  <a:pt x="16512493" y="1358470"/>
                </a:lnTo>
                <a:lnTo>
                  <a:pt x="0" y="135847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67033" y="3569546"/>
            <a:ext cx="2168285" cy="1231382"/>
            <a:chOff x="0" y="0"/>
            <a:chExt cx="1927365" cy="1094562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927352" cy="1094613"/>
            </a:xfrm>
            <a:custGeom>
              <a:avLst/>
              <a:gdLst/>
              <a:ahLst/>
              <a:cxnLst/>
              <a:rect r="r" b="b" t="t" l="l"/>
              <a:pathLst>
                <a:path h="1094613" w="1927352">
                  <a:moveTo>
                    <a:pt x="0" y="0"/>
                  </a:moveTo>
                  <a:lnTo>
                    <a:pt x="1927352" y="0"/>
                  </a:lnTo>
                  <a:lnTo>
                    <a:pt x="1927352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4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31786" y="3499795"/>
            <a:ext cx="2238794" cy="1301891"/>
          </a:xfrm>
          <a:custGeom>
            <a:avLst/>
            <a:gdLst/>
            <a:ahLst/>
            <a:cxnLst/>
            <a:rect r="r" b="b" t="t" l="l"/>
            <a:pathLst>
              <a:path h="1301891" w="2238794">
                <a:moveTo>
                  <a:pt x="0" y="0"/>
                </a:moveTo>
                <a:lnTo>
                  <a:pt x="2238794" y="0"/>
                </a:lnTo>
                <a:lnTo>
                  <a:pt x="2238794" y="1301891"/>
                </a:lnTo>
                <a:lnTo>
                  <a:pt x="0" y="130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3162924" y="3878428"/>
            <a:ext cx="298194" cy="613648"/>
            <a:chOff x="0" y="0"/>
            <a:chExt cx="265062" cy="54546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5049" cy="545465"/>
            </a:xfrm>
            <a:custGeom>
              <a:avLst/>
              <a:gdLst/>
              <a:ahLst/>
              <a:cxnLst/>
              <a:rect r="r" b="b" t="t" l="l"/>
              <a:pathLst>
                <a:path h="545465" w="265049">
                  <a:moveTo>
                    <a:pt x="0" y="0"/>
                  </a:moveTo>
                  <a:lnTo>
                    <a:pt x="265049" y="0"/>
                  </a:lnTo>
                  <a:lnTo>
                    <a:pt x="265049" y="545465"/>
                  </a:lnTo>
                  <a:lnTo>
                    <a:pt x="0" y="545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222931" y="3903931"/>
            <a:ext cx="178194" cy="493647"/>
          </a:xfrm>
          <a:custGeom>
            <a:avLst/>
            <a:gdLst/>
            <a:ahLst/>
            <a:cxnLst/>
            <a:rect r="r" b="b" t="t" l="l"/>
            <a:pathLst>
              <a:path h="493647" w="178194">
                <a:moveTo>
                  <a:pt x="0" y="0"/>
                </a:moveTo>
                <a:lnTo>
                  <a:pt x="178194" y="0"/>
                </a:lnTo>
                <a:lnTo>
                  <a:pt x="178194" y="493647"/>
                </a:lnTo>
                <a:lnTo>
                  <a:pt x="0" y="493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3402668" y="3569546"/>
            <a:ext cx="2168285" cy="1231382"/>
            <a:chOff x="0" y="0"/>
            <a:chExt cx="1927365" cy="1094562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927352" cy="1094613"/>
            </a:xfrm>
            <a:custGeom>
              <a:avLst/>
              <a:gdLst/>
              <a:ahLst/>
              <a:cxnLst/>
              <a:rect r="r" b="b" t="t" l="l"/>
              <a:pathLst>
                <a:path h="1094613" w="1927352">
                  <a:moveTo>
                    <a:pt x="0" y="0"/>
                  </a:moveTo>
                  <a:lnTo>
                    <a:pt x="1927352" y="0"/>
                  </a:lnTo>
                  <a:lnTo>
                    <a:pt x="1927352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4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3367421" y="3499795"/>
            <a:ext cx="2238794" cy="1301891"/>
          </a:xfrm>
          <a:custGeom>
            <a:avLst/>
            <a:gdLst/>
            <a:ahLst/>
            <a:cxnLst/>
            <a:rect r="r" b="b" t="t" l="l"/>
            <a:pathLst>
              <a:path h="1301891" w="2238794">
                <a:moveTo>
                  <a:pt x="0" y="0"/>
                </a:moveTo>
                <a:lnTo>
                  <a:pt x="2238794" y="0"/>
                </a:lnTo>
                <a:lnTo>
                  <a:pt x="2238794" y="1301891"/>
                </a:lnTo>
                <a:lnTo>
                  <a:pt x="0" y="130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5498573" y="3878428"/>
            <a:ext cx="298194" cy="613648"/>
            <a:chOff x="0" y="0"/>
            <a:chExt cx="265062" cy="545465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049" cy="545465"/>
            </a:xfrm>
            <a:custGeom>
              <a:avLst/>
              <a:gdLst/>
              <a:ahLst/>
              <a:cxnLst/>
              <a:rect r="r" b="b" t="t" l="l"/>
              <a:pathLst>
                <a:path h="545465" w="265049">
                  <a:moveTo>
                    <a:pt x="0" y="0"/>
                  </a:moveTo>
                  <a:lnTo>
                    <a:pt x="265049" y="0"/>
                  </a:lnTo>
                  <a:lnTo>
                    <a:pt x="265049" y="545465"/>
                  </a:lnTo>
                  <a:lnTo>
                    <a:pt x="0" y="545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5558566" y="3903931"/>
            <a:ext cx="178194" cy="493647"/>
          </a:xfrm>
          <a:custGeom>
            <a:avLst/>
            <a:gdLst/>
            <a:ahLst/>
            <a:cxnLst/>
            <a:rect r="r" b="b" t="t" l="l"/>
            <a:pathLst>
              <a:path h="493647" w="178194">
                <a:moveTo>
                  <a:pt x="0" y="0"/>
                </a:moveTo>
                <a:lnTo>
                  <a:pt x="178194" y="0"/>
                </a:lnTo>
                <a:lnTo>
                  <a:pt x="178194" y="493647"/>
                </a:lnTo>
                <a:lnTo>
                  <a:pt x="0" y="493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5738317" y="3569546"/>
            <a:ext cx="2168285" cy="1231382"/>
            <a:chOff x="0" y="0"/>
            <a:chExt cx="1927365" cy="1094562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927352" cy="1094613"/>
            </a:xfrm>
            <a:custGeom>
              <a:avLst/>
              <a:gdLst/>
              <a:ahLst/>
              <a:cxnLst/>
              <a:rect r="r" b="b" t="t" l="l"/>
              <a:pathLst>
                <a:path h="1094613" w="1927352">
                  <a:moveTo>
                    <a:pt x="0" y="0"/>
                  </a:moveTo>
                  <a:lnTo>
                    <a:pt x="1927352" y="0"/>
                  </a:lnTo>
                  <a:lnTo>
                    <a:pt x="1927352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4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5703070" y="3499795"/>
            <a:ext cx="2238794" cy="1301891"/>
          </a:xfrm>
          <a:custGeom>
            <a:avLst/>
            <a:gdLst/>
            <a:ahLst/>
            <a:cxnLst/>
            <a:rect r="r" b="b" t="t" l="l"/>
            <a:pathLst>
              <a:path h="1301891" w="2238794">
                <a:moveTo>
                  <a:pt x="0" y="0"/>
                </a:moveTo>
                <a:lnTo>
                  <a:pt x="2238794" y="0"/>
                </a:lnTo>
                <a:lnTo>
                  <a:pt x="2238794" y="1301891"/>
                </a:lnTo>
                <a:lnTo>
                  <a:pt x="0" y="130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7834208" y="3878428"/>
            <a:ext cx="298194" cy="613648"/>
            <a:chOff x="0" y="0"/>
            <a:chExt cx="265062" cy="545465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265049" cy="545465"/>
            </a:xfrm>
            <a:custGeom>
              <a:avLst/>
              <a:gdLst/>
              <a:ahLst/>
              <a:cxnLst/>
              <a:rect r="r" b="b" t="t" l="l"/>
              <a:pathLst>
                <a:path h="545465" w="265049">
                  <a:moveTo>
                    <a:pt x="0" y="0"/>
                  </a:moveTo>
                  <a:lnTo>
                    <a:pt x="265049" y="0"/>
                  </a:lnTo>
                  <a:lnTo>
                    <a:pt x="265049" y="545465"/>
                  </a:lnTo>
                  <a:lnTo>
                    <a:pt x="0" y="545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7894201" y="3903931"/>
            <a:ext cx="178194" cy="493647"/>
          </a:xfrm>
          <a:custGeom>
            <a:avLst/>
            <a:gdLst/>
            <a:ahLst/>
            <a:cxnLst/>
            <a:rect r="r" b="b" t="t" l="l"/>
            <a:pathLst>
              <a:path h="493647" w="178194">
                <a:moveTo>
                  <a:pt x="0" y="0"/>
                </a:moveTo>
                <a:lnTo>
                  <a:pt x="178194" y="0"/>
                </a:lnTo>
                <a:lnTo>
                  <a:pt x="178194" y="493647"/>
                </a:lnTo>
                <a:lnTo>
                  <a:pt x="0" y="493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8073952" y="3569546"/>
            <a:ext cx="2168285" cy="1231382"/>
            <a:chOff x="0" y="0"/>
            <a:chExt cx="1927365" cy="1094562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927352" cy="1094613"/>
            </a:xfrm>
            <a:custGeom>
              <a:avLst/>
              <a:gdLst/>
              <a:ahLst/>
              <a:cxnLst/>
              <a:rect r="r" b="b" t="t" l="l"/>
              <a:pathLst>
                <a:path h="1094613" w="1927352">
                  <a:moveTo>
                    <a:pt x="0" y="0"/>
                  </a:moveTo>
                  <a:lnTo>
                    <a:pt x="1927352" y="0"/>
                  </a:lnTo>
                  <a:lnTo>
                    <a:pt x="1927352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4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8038705" y="3499795"/>
            <a:ext cx="2238794" cy="1301891"/>
          </a:xfrm>
          <a:custGeom>
            <a:avLst/>
            <a:gdLst/>
            <a:ahLst/>
            <a:cxnLst/>
            <a:rect r="r" b="b" t="t" l="l"/>
            <a:pathLst>
              <a:path h="1301891" w="2238794">
                <a:moveTo>
                  <a:pt x="0" y="0"/>
                </a:moveTo>
                <a:lnTo>
                  <a:pt x="2238794" y="0"/>
                </a:lnTo>
                <a:lnTo>
                  <a:pt x="2238794" y="1301891"/>
                </a:lnTo>
                <a:lnTo>
                  <a:pt x="0" y="130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0169843" y="3878428"/>
            <a:ext cx="298194" cy="613648"/>
            <a:chOff x="0" y="0"/>
            <a:chExt cx="265062" cy="545465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5049" cy="545465"/>
            </a:xfrm>
            <a:custGeom>
              <a:avLst/>
              <a:gdLst/>
              <a:ahLst/>
              <a:cxnLst/>
              <a:rect r="r" b="b" t="t" l="l"/>
              <a:pathLst>
                <a:path h="545465" w="265049">
                  <a:moveTo>
                    <a:pt x="0" y="0"/>
                  </a:moveTo>
                  <a:lnTo>
                    <a:pt x="265049" y="0"/>
                  </a:lnTo>
                  <a:lnTo>
                    <a:pt x="265049" y="545465"/>
                  </a:lnTo>
                  <a:lnTo>
                    <a:pt x="0" y="545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0229850" y="3903931"/>
            <a:ext cx="178194" cy="493647"/>
          </a:xfrm>
          <a:custGeom>
            <a:avLst/>
            <a:gdLst/>
            <a:ahLst/>
            <a:cxnLst/>
            <a:rect r="r" b="b" t="t" l="l"/>
            <a:pathLst>
              <a:path h="493647" w="178194">
                <a:moveTo>
                  <a:pt x="0" y="0"/>
                </a:moveTo>
                <a:lnTo>
                  <a:pt x="178194" y="0"/>
                </a:lnTo>
                <a:lnTo>
                  <a:pt x="178194" y="493647"/>
                </a:lnTo>
                <a:lnTo>
                  <a:pt x="0" y="493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10374339" y="3499795"/>
            <a:ext cx="2238794" cy="1301891"/>
          </a:xfrm>
          <a:custGeom>
            <a:avLst/>
            <a:gdLst/>
            <a:ahLst/>
            <a:cxnLst/>
            <a:rect r="r" b="b" t="t" l="l"/>
            <a:pathLst>
              <a:path h="1301891" w="2238794">
                <a:moveTo>
                  <a:pt x="0" y="0"/>
                </a:moveTo>
                <a:lnTo>
                  <a:pt x="2238795" y="0"/>
                </a:lnTo>
                <a:lnTo>
                  <a:pt x="2238795" y="1301891"/>
                </a:lnTo>
                <a:lnTo>
                  <a:pt x="0" y="130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12505477" y="3878428"/>
            <a:ext cx="298194" cy="613648"/>
            <a:chOff x="0" y="0"/>
            <a:chExt cx="265062" cy="545465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5049" cy="545465"/>
            </a:xfrm>
            <a:custGeom>
              <a:avLst/>
              <a:gdLst/>
              <a:ahLst/>
              <a:cxnLst/>
              <a:rect r="r" b="b" t="t" l="l"/>
              <a:pathLst>
                <a:path h="545465" w="265049">
                  <a:moveTo>
                    <a:pt x="0" y="0"/>
                  </a:moveTo>
                  <a:lnTo>
                    <a:pt x="265049" y="0"/>
                  </a:lnTo>
                  <a:lnTo>
                    <a:pt x="265049" y="545465"/>
                  </a:lnTo>
                  <a:lnTo>
                    <a:pt x="0" y="54546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-4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12565485" y="3903931"/>
            <a:ext cx="178194" cy="493647"/>
          </a:xfrm>
          <a:custGeom>
            <a:avLst/>
            <a:gdLst/>
            <a:ahLst/>
            <a:cxnLst/>
            <a:rect r="r" b="b" t="t" l="l"/>
            <a:pathLst>
              <a:path h="493647" w="178194">
                <a:moveTo>
                  <a:pt x="0" y="0"/>
                </a:moveTo>
                <a:lnTo>
                  <a:pt x="178193" y="0"/>
                </a:lnTo>
                <a:lnTo>
                  <a:pt x="178193" y="493647"/>
                </a:lnTo>
                <a:lnTo>
                  <a:pt x="0" y="49364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12745236" y="3569546"/>
            <a:ext cx="2168285" cy="1231382"/>
            <a:chOff x="0" y="0"/>
            <a:chExt cx="1927365" cy="1094562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1927352" cy="1094613"/>
            </a:xfrm>
            <a:custGeom>
              <a:avLst/>
              <a:gdLst/>
              <a:ahLst/>
              <a:cxnLst/>
              <a:rect r="r" b="b" t="t" l="l"/>
              <a:pathLst>
                <a:path h="1094613" w="1927352">
                  <a:moveTo>
                    <a:pt x="0" y="0"/>
                  </a:moveTo>
                  <a:lnTo>
                    <a:pt x="1927352" y="0"/>
                  </a:lnTo>
                  <a:lnTo>
                    <a:pt x="1927352" y="1094613"/>
                  </a:lnTo>
                  <a:lnTo>
                    <a:pt x="0" y="109461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4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12709974" y="3499795"/>
            <a:ext cx="2238794" cy="1301891"/>
          </a:xfrm>
          <a:custGeom>
            <a:avLst/>
            <a:gdLst/>
            <a:ahLst/>
            <a:cxnLst/>
            <a:rect r="r" b="b" t="t" l="l"/>
            <a:pathLst>
              <a:path h="1301891" w="2238794">
                <a:moveTo>
                  <a:pt x="0" y="0"/>
                </a:moveTo>
                <a:lnTo>
                  <a:pt x="2238794" y="0"/>
                </a:lnTo>
                <a:lnTo>
                  <a:pt x="2238794" y="1301891"/>
                </a:lnTo>
                <a:lnTo>
                  <a:pt x="0" y="13018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1455911" y="5453753"/>
            <a:ext cx="4660568" cy="1985948"/>
            <a:chOff x="0" y="0"/>
            <a:chExt cx="4142727" cy="176528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4142740" cy="1765300"/>
            </a:xfrm>
            <a:custGeom>
              <a:avLst/>
              <a:gdLst/>
              <a:ahLst/>
              <a:cxnLst/>
              <a:rect r="r" b="b" t="t" l="l"/>
              <a:pathLst>
                <a:path h="1765300" w="4142740">
                  <a:moveTo>
                    <a:pt x="0" y="0"/>
                  </a:moveTo>
                  <a:lnTo>
                    <a:pt x="4142740" y="0"/>
                  </a:lnTo>
                  <a:lnTo>
                    <a:pt x="4142740" y="1765300"/>
                  </a:lnTo>
                  <a:lnTo>
                    <a:pt x="0" y="176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420649" y="5384001"/>
            <a:ext cx="4731063" cy="2056443"/>
          </a:xfrm>
          <a:custGeom>
            <a:avLst/>
            <a:gdLst/>
            <a:ahLst/>
            <a:cxnLst/>
            <a:rect r="r" b="b" t="t" l="l"/>
            <a:pathLst>
              <a:path h="2056443" w="4731063">
                <a:moveTo>
                  <a:pt x="0" y="0"/>
                </a:moveTo>
                <a:lnTo>
                  <a:pt x="4731063" y="0"/>
                </a:lnTo>
                <a:lnTo>
                  <a:pt x="4731063" y="2056443"/>
                </a:lnTo>
                <a:lnTo>
                  <a:pt x="0" y="20564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523048" y="5486400"/>
            <a:ext cx="96012" cy="1851660"/>
          </a:xfrm>
          <a:custGeom>
            <a:avLst/>
            <a:gdLst/>
            <a:ahLst/>
            <a:cxnLst/>
            <a:rect r="r" b="b" t="t" l="l"/>
            <a:pathLst>
              <a:path h="1851660" w="96012">
                <a:moveTo>
                  <a:pt x="0" y="0"/>
                </a:moveTo>
                <a:lnTo>
                  <a:pt x="96012" y="0"/>
                </a:lnTo>
                <a:lnTo>
                  <a:pt x="96012" y="1851660"/>
                </a:lnTo>
                <a:lnTo>
                  <a:pt x="0" y="18516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865947" y="5733288"/>
            <a:ext cx="3909060" cy="1440180"/>
          </a:xfrm>
          <a:custGeom>
            <a:avLst/>
            <a:gdLst/>
            <a:ahLst/>
            <a:cxnLst/>
            <a:rect r="r" b="b" t="t" l="l"/>
            <a:pathLst>
              <a:path h="1440180" w="3909060">
                <a:moveTo>
                  <a:pt x="0" y="0"/>
                </a:moveTo>
                <a:lnTo>
                  <a:pt x="3909061" y="0"/>
                </a:lnTo>
                <a:lnTo>
                  <a:pt x="3909061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1463054" y="5460897"/>
            <a:ext cx="216013" cy="1971661"/>
            <a:chOff x="0" y="0"/>
            <a:chExt cx="192011" cy="175258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192024" cy="1752600"/>
            </a:xfrm>
            <a:custGeom>
              <a:avLst/>
              <a:gdLst/>
              <a:ahLst/>
              <a:cxnLst/>
              <a:rect r="r" b="b" t="t" l="l"/>
              <a:pathLst>
                <a:path h="175260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6" b="0"/>
              </a:stretch>
            </a:blipFill>
          </p:spPr>
        </p:sp>
      </p:grpSp>
      <p:grpSp>
        <p:nvGrpSpPr>
          <p:cNvPr name="Group 41" id="41"/>
          <p:cNvGrpSpPr/>
          <p:nvPr/>
        </p:nvGrpSpPr>
        <p:grpSpPr>
          <a:xfrm rot="0">
            <a:off x="6805151" y="5453753"/>
            <a:ext cx="4660568" cy="1985948"/>
            <a:chOff x="0" y="0"/>
            <a:chExt cx="4142727" cy="176528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4142740" cy="1765300"/>
            </a:xfrm>
            <a:custGeom>
              <a:avLst/>
              <a:gdLst/>
              <a:ahLst/>
              <a:cxnLst/>
              <a:rect r="r" b="b" t="t" l="l"/>
              <a:pathLst>
                <a:path h="1765300" w="4142740">
                  <a:moveTo>
                    <a:pt x="0" y="0"/>
                  </a:moveTo>
                  <a:lnTo>
                    <a:pt x="4142740" y="0"/>
                  </a:lnTo>
                  <a:lnTo>
                    <a:pt x="4142740" y="1765300"/>
                  </a:lnTo>
                  <a:lnTo>
                    <a:pt x="0" y="176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6769889" y="5384001"/>
            <a:ext cx="4731063" cy="2056443"/>
          </a:xfrm>
          <a:custGeom>
            <a:avLst/>
            <a:gdLst/>
            <a:ahLst/>
            <a:cxnLst/>
            <a:rect r="r" b="b" t="t" l="l"/>
            <a:pathLst>
              <a:path h="2056443" w="4731063">
                <a:moveTo>
                  <a:pt x="0" y="0"/>
                </a:moveTo>
                <a:lnTo>
                  <a:pt x="4731063" y="0"/>
                </a:lnTo>
                <a:lnTo>
                  <a:pt x="4731063" y="2056443"/>
                </a:lnTo>
                <a:lnTo>
                  <a:pt x="0" y="2056443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6812294" y="5460897"/>
            <a:ext cx="216013" cy="1971661"/>
            <a:chOff x="0" y="0"/>
            <a:chExt cx="192011" cy="1752587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192024" cy="1752600"/>
            </a:xfrm>
            <a:custGeom>
              <a:avLst/>
              <a:gdLst/>
              <a:ahLst/>
              <a:cxnLst/>
              <a:rect r="r" b="b" t="t" l="l"/>
              <a:pathLst>
                <a:path h="175260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6" b="0"/>
              </a:stretch>
            </a:blip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6872288" y="5486400"/>
            <a:ext cx="96012" cy="1851660"/>
          </a:xfrm>
          <a:custGeom>
            <a:avLst/>
            <a:gdLst/>
            <a:ahLst/>
            <a:cxnLst/>
            <a:rect r="r" b="b" t="t" l="l"/>
            <a:pathLst>
              <a:path h="1851660" w="96012">
                <a:moveTo>
                  <a:pt x="0" y="0"/>
                </a:moveTo>
                <a:lnTo>
                  <a:pt x="96011" y="0"/>
                </a:lnTo>
                <a:lnTo>
                  <a:pt x="96011" y="1851660"/>
                </a:lnTo>
                <a:lnTo>
                  <a:pt x="0" y="18516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7" id="47"/>
          <p:cNvSpPr/>
          <p:nvPr/>
        </p:nvSpPr>
        <p:spPr>
          <a:xfrm flipH="false" flipV="false" rot="0">
            <a:off x="7215187" y="5733288"/>
            <a:ext cx="3909060" cy="1440180"/>
          </a:xfrm>
          <a:custGeom>
            <a:avLst/>
            <a:gdLst/>
            <a:ahLst/>
            <a:cxnLst/>
            <a:rect r="r" b="b" t="t" l="l"/>
            <a:pathLst>
              <a:path h="1440180" w="3909060">
                <a:moveTo>
                  <a:pt x="0" y="0"/>
                </a:moveTo>
                <a:lnTo>
                  <a:pt x="3909061" y="0"/>
                </a:lnTo>
                <a:lnTo>
                  <a:pt x="3909061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12154391" y="5453753"/>
            <a:ext cx="4660568" cy="1985948"/>
            <a:chOff x="0" y="0"/>
            <a:chExt cx="4142727" cy="176528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4142740" cy="1765300"/>
            </a:xfrm>
            <a:custGeom>
              <a:avLst/>
              <a:gdLst/>
              <a:ahLst/>
              <a:cxnLst/>
              <a:rect r="r" b="b" t="t" l="l"/>
              <a:pathLst>
                <a:path h="1765300" w="4142740">
                  <a:moveTo>
                    <a:pt x="0" y="0"/>
                  </a:moveTo>
                  <a:lnTo>
                    <a:pt x="4142740" y="0"/>
                  </a:lnTo>
                  <a:lnTo>
                    <a:pt x="4142740" y="1765300"/>
                  </a:lnTo>
                  <a:lnTo>
                    <a:pt x="0" y="17653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2119129" y="5384001"/>
            <a:ext cx="4731063" cy="2056443"/>
          </a:xfrm>
          <a:custGeom>
            <a:avLst/>
            <a:gdLst/>
            <a:ahLst/>
            <a:cxnLst/>
            <a:rect r="r" b="b" t="t" l="l"/>
            <a:pathLst>
              <a:path h="2056443" w="4731063">
                <a:moveTo>
                  <a:pt x="0" y="0"/>
                </a:moveTo>
                <a:lnTo>
                  <a:pt x="4731063" y="0"/>
                </a:lnTo>
                <a:lnTo>
                  <a:pt x="4731063" y="2056443"/>
                </a:lnTo>
                <a:lnTo>
                  <a:pt x="0" y="205644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1" id="51"/>
          <p:cNvGrpSpPr/>
          <p:nvPr/>
        </p:nvGrpSpPr>
        <p:grpSpPr>
          <a:xfrm rot="0">
            <a:off x="12161534" y="5460897"/>
            <a:ext cx="216013" cy="1971661"/>
            <a:chOff x="0" y="0"/>
            <a:chExt cx="192011" cy="1752587"/>
          </a:xfrm>
        </p:grpSpPr>
        <p:sp>
          <p:nvSpPr>
            <p:cNvPr name="Freeform 52" id="52"/>
            <p:cNvSpPr/>
            <p:nvPr/>
          </p:nvSpPr>
          <p:spPr>
            <a:xfrm flipH="false" flipV="false" rot="0">
              <a:off x="0" y="0"/>
              <a:ext cx="192024" cy="1752600"/>
            </a:xfrm>
            <a:custGeom>
              <a:avLst/>
              <a:gdLst/>
              <a:ahLst/>
              <a:cxnLst/>
              <a:rect r="r" b="b" t="t" l="l"/>
              <a:pathLst>
                <a:path h="175260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752600"/>
                  </a:lnTo>
                  <a:lnTo>
                    <a:pt x="0" y="17526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6" b="0"/>
              </a:stretch>
            </a:blipFill>
          </p:spPr>
        </p:sp>
      </p:grpSp>
      <p:sp>
        <p:nvSpPr>
          <p:cNvPr name="Freeform 53" id="53"/>
          <p:cNvSpPr/>
          <p:nvPr/>
        </p:nvSpPr>
        <p:spPr>
          <a:xfrm flipH="false" flipV="false" rot="0">
            <a:off x="12221528" y="5486400"/>
            <a:ext cx="96012" cy="1851660"/>
          </a:xfrm>
          <a:custGeom>
            <a:avLst/>
            <a:gdLst/>
            <a:ahLst/>
            <a:cxnLst/>
            <a:rect r="r" b="b" t="t" l="l"/>
            <a:pathLst>
              <a:path h="1851660" w="96012">
                <a:moveTo>
                  <a:pt x="0" y="0"/>
                </a:moveTo>
                <a:lnTo>
                  <a:pt x="96011" y="0"/>
                </a:lnTo>
                <a:lnTo>
                  <a:pt x="96011" y="1851660"/>
                </a:lnTo>
                <a:lnTo>
                  <a:pt x="0" y="185166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4" id="54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5" id="55"/>
          <p:cNvSpPr/>
          <p:nvPr/>
        </p:nvSpPr>
        <p:spPr>
          <a:xfrm flipH="false" flipV="false" rot="0">
            <a:off x="974450" y="590888"/>
            <a:ext cx="16321954" cy="854107"/>
          </a:xfrm>
          <a:custGeom>
            <a:avLst/>
            <a:gdLst/>
            <a:ahLst/>
            <a:cxnLst/>
            <a:rect r="r" b="b" t="t" l="l"/>
            <a:pathLst>
              <a:path h="854107" w="16321954">
                <a:moveTo>
                  <a:pt x="0" y="0"/>
                </a:moveTo>
                <a:lnTo>
                  <a:pt x="16321955" y="0"/>
                </a:lnTo>
                <a:lnTo>
                  <a:pt x="16321955" y="854107"/>
                </a:lnTo>
                <a:lnTo>
                  <a:pt x="0" y="854107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6" id="56"/>
          <p:cNvSpPr/>
          <p:nvPr/>
        </p:nvSpPr>
        <p:spPr>
          <a:xfrm flipH="false" flipV="false" rot="0">
            <a:off x="12564428" y="5733288"/>
            <a:ext cx="3909060" cy="1440180"/>
          </a:xfrm>
          <a:custGeom>
            <a:avLst/>
            <a:gdLst/>
            <a:ahLst/>
            <a:cxnLst/>
            <a:rect r="r" b="b" t="t" l="l"/>
            <a:pathLst>
              <a:path h="1440180" w="3909060">
                <a:moveTo>
                  <a:pt x="0" y="0"/>
                </a:moveTo>
                <a:lnTo>
                  <a:pt x="3909060" y="0"/>
                </a:lnTo>
                <a:lnTo>
                  <a:pt x="3909060" y="1440180"/>
                </a:lnTo>
                <a:lnTo>
                  <a:pt x="0" y="144018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7" id="57"/>
          <p:cNvSpPr txBox="true"/>
          <p:nvPr/>
        </p:nvSpPr>
        <p:spPr>
          <a:xfrm rot="0">
            <a:off x="1103052" y="1768535"/>
            <a:ext cx="7727930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b="true" sz="3749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AI SOC Detection &amp; Response Loop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2273556" y="2515614"/>
            <a:ext cx="61479" cy="39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360988" y="3940459"/>
            <a:ext cx="158037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Security Event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3869126" y="3925791"/>
            <a:ext cx="1250871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Monito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ring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6141132" y="3940459"/>
            <a:ext cx="1362670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Pre-Fi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ltering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103009" y="2515614"/>
            <a:ext cx="5556052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Fro</a:t>
            </a: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m security events to intelligent threat response.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8513207" y="3940459"/>
            <a:ext cx="119943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Analysis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694244" y="3940459"/>
            <a:ext cx="161341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hreat Priority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3355755" y="3925791"/>
            <a:ext cx="106102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994535" y="5712409"/>
            <a:ext cx="2975129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ction Layer</a:t>
            </a:r>
          </a:p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Secur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ity Events • Attack Patterns • Logs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7343775" y="5712409"/>
            <a:ext cx="3074113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In</a:t>
            </a:r>
            <a:r>
              <a:rPr lang="en-US" b="true" sz="2699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telligence Layer</a:t>
            </a:r>
          </a:p>
          <a:p>
            <a:pPr algn="l">
              <a:lnSpc>
                <a:spcPts val="2834"/>
              </a:lnSpc>
            </a:pPr>
            <a:r>
              <a:rPr lang="en-US" b="true" sz="2024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Threat</a:t>
            </a:r>
            <a:r>
              <a:rPr lang="en-US" b="true" sz="2024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Analysis • Classification • Risk Scoring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2564428" y="5744528"/>
            <a:ext cx="4121944" cy="12306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onse Layer</a:t>
            </a:r>
          </a:p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ert Prioritization • Recommended Actions • Incident Response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02995" y="9692678"/>
            <a:ext cx="2572293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5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03038" y="503601"/>
            <a:ext cx="4579144" cy="8696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09"/>
              </a:lnSpc>
            </a:pPr>
            <a:r>
              <a:rPr lang="en-US" b="true" sz="4649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465" y="1149872"/>
            <a:ext cx="16321954" cy="715504"/>
          </a:xfrm>
          <a:custGeom>
            <a:avLst/>
            <a:gdLst/>
            <a:ahLst/>
            <a:cxnLst/>
            <a:rect r="r" b="b" t="t" l="l"/>
            <a:pathLst>
              <a:path h="715504" w="16321954">
                <a:moveTo>
                  <a:pt x="0" y="0"/>
                </a:moveTo>
                <a:lnTo>
                  <a:pt x="16321954" y="0"/>
                </a:lnTo>
                <a:lnTo>
                  <a:pt x="16321954" y="715504"/>
                </a:lnTo>
                <a:lnTo>
                  <a:pt x="0" y="71550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975851" y="2093333"/>
            <a:ext cx="8020988" cy="1437308"/>
            <a:chOff x="0" y="0"/>
            <a:chExt cx="7129767" cy="127760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7129780" cy="1277620"/>
            </a:xfrm>
            <a:custGeom>
              <a:avLst/>
              <a:gdLst/>
              <a:ahLst/>
              <a:cxnLst/>
              <a:rect r="r" b="b" t="t" l="l"/>
              <a:pathLst>
                <a:path h="1277620" w="7129780">
                  <a:moveTo>
                    <a:pt x="0" y="0"/>
                  </a:moveTo>
                  <a:lnTo>
                    <a:pt x="7129780" y="0"/>
                  </a:lnTo>
                  <a:lnTo>
                    <a:pt x="7129780" y="1277620"/>
                  </a:lnTo>
                  <a:lnTo>
                    <a:pt x="0" y="127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940589" y="2023581"/>
            <a:ext cx="8091483" cy="1507803"/>
          </a:xfrm>
          <a:custGeom>
            <a:avLst/>
            <a:gdLst/>
            <a:ahLst/>
            <a:cxnLst/>
            <a:rect r="r" b="b" t="t" l="l"/>
            <a:pathLst>
              <a:path h="1507803" w="8091483">
                <a:moveTo>
                  <a:pt x="0" y="0"/>
                </a:moveTo>
                <a:lnTo>
                  <a:pt x="8091483" y="0"/>
                </a:lnTo>
                <a:lnTo>
                  <a:pt x="8091483" y="1507803"/>
                </a:lnTo>
                <a:lnTo>
                  <a:pt x="0" y="150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982994" y="2100477"/>
            <a:ext cx="216013" cy="1423021"/>
            <a:chOff x="0" y="0"/>
            <a:chExt cx="192011" cy="126490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" cy="1264920"/>
            </a:xfrm>
            <a:custGeom>
              <a:avLst/>
              <a:gdLst/>
              <a:ahLst/>
              <a:cxnLst/>
              <a:rect r="r" b="b" t="t" l="l"/>
              <a:pathLst>
                <a:path h="126492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264920"/>
                  </a:lnTo>
                  <a:lnTo>
                    <a:pt x="0" y="126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42987" y="2125980"/>
            <a:ext cx="96012" cy="1303020"/>
          </a:xfrm>
          <a:custGeom>
            <a:avLst/>
            <a:gdLst/>
            <a:ahLst/>
            <a:cxnLst/>
            <a:rect r="r" b="b" t="t" l="l"/>
            <a:pathLst>
              <a:path h="1303020" w="96012">
                <a:moveTo>
                  <a:pt x="0" y="0"/>
                </a:moveTo>
                <a:lnTo>
                  <a:pt x="96012" y="0"/>
                </a:lnTo>
                <a:lnTo>
                  <a:pt x="96012" y="1303020"/>
                </a:lnTo>
                <a:lnTo>
                  <a:pt x="0" y="1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385887" y="2372868"/>
            <a:ext cx="7269480" cy="891540"/>
          </a:xfrm>
          <a:custGeom>
            <a:avLst/>
            <a:gdLst/>
            <a:ahLst/>
            <a:cxnLst/>
            <a:rect r="r" b="b" t="t" l="l"/>
            <a:pathLst>
              <a:path h="891540" w="7269480">
                <a:moveTo>
                  <a:pt x="0" y="0"/>
                </a:moveTo>
                <a:lnTo>
                  <a:pt x="7269481" y="0"/>
                </a:lnTo>
                <a:lnTo>
                  <a:pt x="7269481" y="891540"/>
                </a:lnTo>
                <a:lnTo>
                  <a:pt x="0" y="891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205451" y="2093333"/>
            <a:ext cx="8020988" cy="1437308"/>
            <a:chOff x="0" y="0"/>
            <a:chExt cx="7129767" cy="127760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7129780" cy="1277620"/>
            </a:xfrm>
            <a:custGeom>
              <a:avLst/>
              <a:gdLst/>
              <a:ahLst/>
              <a:cxnLst/>
              <a:rect r="r" b="b" t="t" l="l"/>
              <a:pathLst>
                <a:path h="1277620" w="7129780">
                  <a:moveTo>
                    <a:pt x="0" y="0"/>
                  </a:moveTo>
                  <a:lnTo>
                    <a:pt x="7129780" y="0"/>
                  </a:lnTo>
                  <a:lnTo>
                    <a:pt x="7129780" y="1277620"/>
                  </a:lnTo>
                  <a:lnTo>
                    <a:pt x="0" y="127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170189" y="2023581"/>
            <a:ext cx="8091483" cy="1507803"/>
          </a:xfrm>
          <a:custGeom>
            <a:avLst/>
            <a:gdLst/>
            <a:ahLst/>
            <a:cxnLst/>
            <a:rect r="r" b="b" t="t" l="l"/>
            <a:pathLst>
              <a:path h="1507803" w="8091483">
                <a:moveTo>
                  <a:pt x="0" y="0"/>
                </a:moveTo>
                <a:lnTo>
                  <a:pt x="8091483" y="0"/>
                </a:lnTo>
                <a:lnTo>
                  <a:pt x="8091483" y="1507803"/>
                </a:lnTo>
                <a:lnTo>
                  <a:pt x="0" y="150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212594" y="2100477"/>
            <a:ext cx="216013" cy="1423021"/>
            <a:chOff x="0" y="0"/>
            <a:chExt cx="192011" cy="126490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" cy="1264920"/>
            </a:xfrm>
            <a:custGeom>
              <a:avLst/>
              <a:gdLst/>
              <a:ahLst/>
              <a:cxnLst/>
              <a:rect r="r" b="b" t="t" l="l"/>
              <a:pathLst>
                <a:path h="126492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264920"/>
                  </a:lnTo>
                  <a:lnTo>
                    <a:pt x="0" y="126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1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272588" y="2125980"/>
            <a:ext cx="96012" cy="1303020"/>
          </a:xfrm>
          <a:custGeom>
            <a:avLst/>
            <a:gdLst/>
            <a:ahLst/>
            <a:cxnLst/>
            <a:rect r="r" b="b" t="t" l="l"/>
            <a:pathLst>
              <a:path h="1303020" w="96012">
                <a:moveTo>
                  <a:pt x="0" y="0"/>
                </a:moveTo>
                <a:lnTo>
                  <a:pt x="96012" y="0"/>
                </a:lnTo>
                <a:lnTo>
                  <a:pt x="96012" y="1303020"/>
                </a:lnTo>
                <a:lnTo>
                  <a:pt x="0" y="1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615487" y="2372868"/>
            <a:ext cx="7269480" cy="891540"/>
          </a:xfrm>
          <a:custGeom>
            <a:avLst/>
            <a:gdLst/>
            <a:ahLst/>
            <a:cxnLst/>
            <a:rect r="r" b="b" t="t" l="l"/>
            <a:pathLst>
              <a:path h="891540" w="7269480">
                <a:moveTo>
                  <a:pt x="0" y="0"/>
                </a:moveTo>
                <a:lnTo>
                  <a:pt x="7269481" y="0"/>
                </a:lnTo>
                <a:lnTo>
                  <a:pt x="7269481" y="891540"/>
                </a:lnTo>
                <a:lnTo>
                  <a:pt x="0" y="891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975851" y="3739253"/>
            <a:ext cx="8020988" cy="1437308"/>
            <a:chOff x="0" y="0"/>
            <a:chExt cx="7129767" cy="127760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7129780" cy="1277620"/>
            </a:xfrm>
            <a:custGeom>
              <a:avLst/>
              <a:gdLst/>
              <a:ahLst/>
              <a:cxnLst/>
              <a:rect r="r" b="b" t="t" l="l"/>
              <a:pathLst>
                <a:path h="1277620" w="7129780">
                  <a:moveTo>
                    <a:pt x="0" y="0"/>
                  </a:moveTo>
                  <a:lnTo>
                    <a:pt x="7129780" y="0"/>
                  </a:lnTo>
                  <a:lnTo>
                    <a:pt x="7129780" y="1277620"/>
                  </a:lnTo>
                  <a:lnTo>
                    <a:pt x="0" y="127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940589" y="3669501"/>
            <a:ext cx="8091483" cy="1507803"/>
          </a:xfrm>
          <a:custGeom>
            <a:avLst/>
            <a:gdLst/>
            <a:ahLst/>
            <a:cxnLst/>
            <a:rect r="r" b="b" t="t" l="l"/>
            <a:pathLst>
              <a:path h="1507803" w="8091483">
                <a:moveTo>
                  <a:pt x="0" y="0"/>
                </a:moveTo>
                <a:lnTo>
                  <a:pt x="8091483" y="0"/>
                </a:lnTo>
                <a:lnTo>
                  <a:pt x="8091483" y="1507803"/>
                </a:lnTo>
                <a:lnTo>
                  <a:pt x="0" y="150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982994" y="3746397"/>
            <a:ext cx="216013" cy="1423021"/>
            <a:chOff x="0" y="0"/>
            <a:chExt cx="192011" cy="126490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024" cy="1264920"/>
            </a:xfrm>
            <a:custGeom>
              <a:avLst/>
              <a:gdLst/>
              <a:ahLst/>
              <a:cxnLst/>
              <a:rect r="r" b="b" t="t" l="l"/>
              <a:pathLst>
                <a:path h="126492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264920"/>
                  </a:lnTo>
                  <a:lnTo>
                    <a:pt x="0" y="126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1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042987" y="3771900"/>
            <a:ext cx="96012" cy="1303020"/>
          </a:xfrm>
          <a:custGeom>
            <a:avLst/>
            <a:gdLst/>
            <a:ahLst/>
            <a:cxnLst/>
            <a:rect r="r" b="b" t="t" l="l"/>
            <a:pathLst>
              <a:path h="1303020" w="96012">
                <a:moveTo>
                  <a:pt x="0" y="0"/>
                </a:moveTo>
                <a:lnTo>
                  <a:pt x="96012" y="0"/>
                </a:lnTo>
                <a:lnTo>
                  <a:pt x="96012" y="1303020"/>
                </a:lnTo>
                <a:lnTo>
                  <a:pt x="0" y="1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385887" y="4018788"/>
            <a:ext cx="7269480" cy="891540"/>
          </a:xfrm>
          <a:custGeom>
            <a:avLst/>
            <a:gdLst/>
            <a:ahLst/>
            <a:cxnLst/>
            <a:rect r="r" b="b" t="t" l="l"/>
            <a:pathLst>
              <a:path h="891540" w="7269480">
                <a:moveTo>
                  <a:pt x="0" y="0"/>
                </a:moveTo>
                <a:lnTo>
                  <a:pt x="7269481" y="0"/>
                </a:lnTo>
                <a:lnTo>
                  <a:pt x="7269481" y="891540"/>
                </a:lnTo>
                <a:lnTo>
                  <a:pt x="0" y="891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9205451" y="3739253"/>
            <a:ext cx="8020988" cy="1437308"/>
            <a:chOff x="0" y="0"/>
            <a:chExt cx="7129767" cy="127760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7129780" cy="1277620"/>
            </a:xfrm>
            <a:custGeom>
              <a:avLst/>
              <a:gdLst/>
              <a:ahLst/>
              <a:cxnLst/>
              <a:rect r="r" b="b" t="t" l="l"/>
              <a:pathLst>
                <a:path h="1277620" w="7129780">
                  <a:moveTo>
                    <a:pt x="0" y="0"/>
                  </a:moveTo>
                  <a:lnTo>
                    <a:pt x="7129780" y="0"/>
                  </a:lnTo>
                  <a:lnTo>
                    <a:pt x="7129780" y="1277620"/>
                  </a:lnTo>
                  <a:lnTo>
                    <a:pt x="0" y="127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9170189" y="3669501"/>
            <a:ext cx="8091483" cy="1507803"/>
          </a:xfrm>
          <a:custGeom>
            <a:avLst/>
            <a:gdLst/>
            <a:ahLst/>
            <a:cxnLst/>
            <a:rect r="r" b="b" t="t" l="l"/>
            <a:pathLst>
              <a:path h="1507803" w="8091483">
                <a:moveTo>
                  <a:pt x="0" y="0"/>
                </a:moveTo>
                <a:lnTo>
                  <a:pt x="8091483" y="0"/>
                </a:lnTo>
                <a:lnTo>
                  <a:pt x="8091483" y="1507803"/>
                </a:lnTo>
                <a:lnTo>
                  <a:pt x="0" y="150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9212594" y="3746397"/>
            <a:ext cx="216013" cy="1423021"/>
            <a:chOff x="0" y="0"/>
            <a:chExt cx="192011" cy="126490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2024" cy="1264920"/>
            </a:xfrm>
            <a:custGeom>
              <a:avLst/>
              <a:gdLst/>
              <a:ahLst/>
              <a:cxnLst/>
              <a:rect r="r" b="b" t="t" l="l"/>
              <a:pathLst>
                <a:path h="126492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264920"/>
                  </a:lnTo>
                  <a:lnTo>
                    <a:pt x="0" y="126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1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9272588" y="3771900"/>
            <a:ext cx="96012" cy="1303020"/>
          </a:xfrm>
          <a:custGeom>
            <a:avLst/>
            <a:gdLst/>
            <a:ahLst/>
            <a:cxnLst/>
            <a:rect r="r" b="b" t="t" l="l"/>
            <a:pathLst>
              <a:path h="1303020" w="96012">
                <a:moveTo>
                  <a:pt x="0" y="0"/>
                </a:moveTo>
                <a:lnTo>
                  <a:pt x="96012" y="0"/>
                </a:lnTo>
                <a:lnTo>
                  <a:pt x="96012" y="1303020"/>
                </a:lnTo>
                <a:lnTo>
                  <a:pt x="0" y="1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615487" y="4018788"/>
            <a:ext cx="7269480" cy="891540"/>
          </a:xfrm>
          <a:custGeom>
            <a:avLst/>
            <a:gdLst/>
            <a:ahLst/>
            <a:cxnLst/>
            <a:rect r="r" b="b" t="t" l="l"/>
            <a:pathLst>
              <a:path h="891540" w="7269480">
                <a:moveTo>
                  <a:pt x="0" y="0"/>
                </a:moveTo>
                <a:lnTo>
                  <a:pt x="7269481" y="0"/>
                </a:lnTo>
                <a:lnTo>
                  <a:pt x="7269481" y="891540"/>
                </a:lnTo>
                <a:lnTo>
                  <a:pt x="0" y="891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1" id="31"/>
          <p:cNvGrpSpPr/>
          <p:nvPr/>
        </p:nvGrpSpPr>
        <p:grpSpPr>
          <a:xfrm rot="0">
            <a:off x="975851" y="5385173"/>
            <a:ext cx="8020988" cy="1437308"/>
            <a:chOff x="0" y="0"/>
            <a:chExt cx="7129767" cy="1277607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7129780" cy="1277620"/>
            </a:xfrm>
            <a:custGeom>
              <a:avLst/>
              <a:gdLst/>
              <a:ahLst/>
              <a:cxnLst/>
              <a:rect r="r" b="b" t="t" l="l"/>
              <a:pathLst>
                <a:path h="1277620" w="7129780">
                  <a:moveTo>
                    <a:pt x="0" y="0"/>
                  </a:moveTo>
                  <a:lnTo>
                    <a:pt x="7129780" y="0"/>
                  </a:lnTo>
                  <a:lnTo>
                    <a:pt x="7129780" y="1277620"/>
                  </a:lnTo>
                  <a:lnTo>
                    <a:pt x="0" y="127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33" id="33"/>
          <p:cNvSpPr/>
          <p:nvPr/>
        </p:nvSpPr>
        <p:spPr>
          <a:xfrm flipH="false" flipV="false" rot="0">
            <a:off x="940589" y="5315421"/>
            <a:ext cx="8091483" cy="1507803"/>
          </a:xfrm>
          <a:custGeom>
            <a:avLst/>
            <a:gdLst/>
            <a:ahLst/>
            <a:cxnLst/>
            <a:rect r="r" b="b" t="t" l="l"/>
            <a:pathLst>
              <a:path h="1507803" w="8091483">
                <a:moveTo>
                  <a:pt x="0" y="0"/>
                </a:moveTo>
                <a:lnTo>
                  <a:pt x="8091483" y="0"/>
                </a:lnTo>
                <a:lnTo>
                  <a:pt x="8091483" y="1507803"/>
                </a:lnTo>
                <a:lnTo>
                  <a:pt x="0" y="150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4" id="34"/>
          <p:cNvGrpSpPr/>
          <p:nvPr/>
        </p:nvGrpSpPr>
        <p:grpSpPr>
          <a:xfrm rot="0">
            <a:off x="982994" y="5392317"/>
            <a:ext cx="216013" cy="1423021"/>
            <a:chOff x="0" y="0"/>
            <a:chExt cx="192011" cy="1264907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92024" cy="1264920"/>
            </a:xfrm>
            <a:custGeom>
              <a:avLst/>
              <a:gdLst/>
              <a:ahLst/>
              <a:cxnLst/>
              <a:rect r="r" b="b" t="t" l="l"/>
              <a:pathLst>
                <a:path h="126492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264920"/>
                  </a:lnTo>
                  <a:lnTo>
                    <a:pt x="0" y="126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1"/>
              </a:stretch>
            </a:blipFill>
          </p:spPr>
        </p:sp>
      </p:grpSp>
      <p:sp>
        <p:nvSpPr>
          <p:cNvPr name="Freeform 36" id="36"/>
          <p:cNvSpPr/>
          <p:nvPr/>
        </p:nvSpPr>
        <p:spPr>
          <a:xfrm flipH="false" flipV="false" rot="0">
            <a:off x="1042987" y="5417820"/>
            <a:ext cx="96012" cy="1303020"/>
          </a:xfrm>
          <a:custGeom>
            <a:avLst/>
            <a:gdLst/>
            <a:ahLst/>
            <a:cxnLst/>
            <a:rect r="r" b="b" t="t" l="l"/>
            <a:pathLst>
              <a:path h="1303020" w="96012">
                <a:moveTo>
                  <a:pt x="0" y="0"/>
                </a:moveTo>
                <a:lnTo>
                  <a:pt x="96012" y="0"/>
                </a:lnTo>
                <a:lnTo>
                  <a:pt x="96012" y="1303020"/>
                </a:lnTo>
                <a:lnTo>
                  <a:pt x="0" y="1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1385887" y="5664708"/>
            <a:ext cx="7269480" cy="891540"/>
          </a:xfrm>
          <a:custGeom>
            <a:avLst/>
            <a:gdLst/>
            <a:ahLst/>
            <a:cxnLst/>
            <a:rect r="r" b="b" t="t" l="l"/>
            <a:pathLst>
              <a:path h="891540" w="7269480">
                <a:moveTo>
                  <a:pt x="0" y="0"/>
                </a:moveTo>
                <a:lnTo>
                  <a:pt x="7269481" y="0"/>
                </a:lnTo>
                <a:lnTo>
                  <a:pt x="7269481" y="891540"/>
                </a:lnTo>
                <a:lnTo>
                  <a:pt x="0" y="891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9205451" y="5385173"/>
            <a:ext cx="8020988" cy="1437308"/>
            <a:chOff x="0" y="0"/>
            <a:chExt cx="7129767" cy="1277607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7129780" cy="1277620"/>
            </a:xfrm>
            <a:custGeom>
              <a:avLst/>
              <a:gdLst/>
              <a:ahLst/>
              <a:cxnLst/>
              <a:rect r="r" b="b" t="t" l="l"/>
              <a:pathLst>
                <a:path h="1277620" w="7129780">
                  <a:moveTo>
                    <a:pt x="0" y="0"/>
                  </a:moveTo>
                  <a:lnTo>
                    <a:pt x="7129780" y="0"/>
                  </a:lnTo>
                  <a:lnTo>
                    <a:pt x="7129780" y="1277620"/>
                  </a:lnTo>
                  <a:lnTo>
                    <a:pt x="0" y="127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9170189" y="5315421"/>
            <a:ext cx="8091483" cy="1507803"/>
          </a:xfrm>
          <a:custGeom>
            <a:avLst/>
            <a:gdLst/>
            <a:ahLst/>
            <a:cxnLst/>
            <a:rect r="r" b="b" t="t" l="l"/>
            <a:pathLst>
              <a:path h="1507803" w="8091483">
                <a:moveTo>
                  <a:pt x="0" y="0"/>
                </a:moveTo>
                <a:lnTo>
                  <a:pt x="8091483" y="0"/>
                </a:lnTo>
                <a:lnTo>
                  <a:pt x="8091483" y="1507803"/>
                </a:lnTo>
                <a:lnTo>
                  <a:pt x="0" y="150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9212594" y="5392317"/>
            <a:ext cx="216013" cy="1423021"/>
            <a:chOff x="0" y="0"/>
            <a:chExt cx="192011" cy="126490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192024" cy="1264920"/>
            </a:xfrm>
            <a:custGeom>
              <a:avLst/>
              <a:gdLst/>
              <a:ahLst/>
              <a:cxnLst/>
              <a:rect r="r" b="b" t="t" l="l"/>
              <a:pathLst>
                <a:path h="126492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264920"/>
                  </a:lnTo>
                  <a:lnTo>
                    <a:pt x="0" y="126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1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9272588" y="5417820"/>
            <a:ext cx="96012" cy="1303020"/>
          </a:xfrm>
          <a:custGeom>
            <a:avLst/>
            <a:gdLst/>
            <a:ahLst/>
            <a:cxnLst/>
            <a:rect r="r" b="b" t="t" l="l"/>
            <a:pathLst>
              <a:path h="1303020" w="96012">
                <a:moveTo>
                  <a:pt x="0" y="0"/>
                </a:moveTo>
                <a:lnTo>
                  <a:pt x="96012" y="0"/>
                </a:lnTo>
                <a:lnTo>
                  <a:pt x="96012" y="1303020"/>
                </a:lnTo>
                <a:lnTo>
                  <a:pt x="0" y="1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4" id="44"/>
          <p:cNvSpPr/>
          <p:nvPr/>
        </p:nvSpPr>
        <p:spPr>
          <a:xfrm flipH="false" flipV="false" rot="0">
            <a:off x="9615487" y="5664708"/>
            <a:ext cx="7269480" cy="891540"/>
          </a:xfrm>
          <a:custGeom>
            <a:avLst/>
            <a:gdLst/>
            <a:ahLst/>
            <a:cxnLst/>
            <a:rect r="r" b="b" t="t" l="l"/>
            <a:pathLst>
              <a:path h="891540" w="7269480">
                <a:moveTo>
                  <a:pt x="0" y="0"/>
                </a:moveTo>
                <a:lnTo>
                  <a:pt x="7269481" y="0"/>
                </a:lnTo>
                <a:lnTo>
                  <a:pt x="7269481" y="891540"/>
                </a:lnTo>
                <a:lnTo>
                  <a:pt x="0" y="891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5" id="45"/>
          <p:cNvGrpSpPr/>
          <p:nvPr/>
        </p:nvGrpSpPr>
        <p:grpSpPr>
          <a:xfrm rot="0">
            <a:off x="975851" y="7031093"/>
            <a:ext cx="8020988" cy="1437308"/>
            <a:chOff x="0" y="0"/>
            <a:chExt cx="7129767" cy="1277607"/>
          </a:xfrm>
        </p:grpSpPr>
        <p:sp>
          <p:nvSpPr>
            <p:cNvPr name="Freeform 46" id="46"/>
            <p:cNvSpPr/>
            <p:nvPr/>
          </p:nvSpPr>
          <p:spPr>
            <a:xfrm flipH="false" flipV="false" rot="0">
              <a:off x="0" y="0"/>
              <a:ext cx="7129780" cy="1277620"/>
            </a:xfrm>
            <a:custGeom>
              <a:avLst/>
              <a:gdLst/>
              <a:ahLst/>
              <a:cxnLst/>
              <a:rect r="r" b="b" t="t" l="l"/>
              <a:pathLst>
                <a:path h="1277620" w="7129780">
                  <a:moveTo>
                    <a:pt x="0" y="0"/>
                  </a:moveTo>
                  <a:lnTo>
                    <a:pt x="7129780" y="0"/>
                  </a:lnTo>
                  <a:lnTo>
                    <a:pt x="7129780" y="1277620"/>
                  </a:lnTo>
                  <a:lnTo>
                    <a:pt x="0" y="127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47" id="47"/>
          <p:cNvSpPr/>
          <p:nvPr/>
        </p:nvSpPr>
        <p:spPr>
          <a:xfrm flipH="false" flipV="false" rot="0">
            <a:off x="940589" y="6961341"/>
            <a:ext cx="8091483" cy="1507803"/>
          </a:xfrm>
          <a:custGeom>
            <a:avLst/>
            <a:gdLst/>
            <a:ahLst/>
            <a:cxnLst/>
            <a:rect r="r" b="b" t="t" l="l"/>
            <a:pathLst>
              <a:path h="1507803" w="8091483">
                <a:moveTo>
                  <a:pt x="0" y="0"/>
                </a:moveTo>
                <a:lnTo>
                  <a:pt x="8091483" y="0"/>
                </a:lnTo>
                <a:lnTo>
                  <a:pt x="8091483" y="1507803"/>
                </a:lnTo>
                <a:lnTo>
                  <a:pt x="0" y="150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8" id="48"/>
          <p:cNvGrpSpPr/>
          <p:nvPr/>
        </p:nvGrpSpPr>
        <p:grpSpPr>
          <a:xfrm rot="0">
            <a:off x="982994" y="7038237"/>
            <a:ext cx="216013" cy="1423021"/>
            <a:chOff x="0" y="0"/>
            <a:chExt cx="192011" cy="1264907"/>
          </a:xfrm>
        </p:grpSpPr>
        <p:sp>
          <p:nvSpPr>
            <p:cNvPr name="Freeform 49" id="49"/>
            <p:cNvSpPr/>
            <p:nvPr/>
          </p:nvSpPr>
          <p:spPr>
            <a:xfrm flipH="false" flipV="false" rot="0">
              <a:off x="0" y="0"/>
              <a:ext cx="192024" cy="1264920"/>
            </a:xfrm>
            <a:custGeom>
              <a:avLst/>
              <a:gdLst/>
              <a:ahLst/>
              <a:cxnLst/>
              <a:rect r="r" b="b" t="t" l="l"/>
              <a:pathLst>
                <a:path h="126492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264920"/>
                  </a:lnTo>
                  <a:lnTo>
                    <a:pt x="0" y="126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1"/>
              </a:stretch>
            </a:blipFill>
          </p:spPr>
        </p:sp>
      </p:grpSp>
      <p:sp>
        <p:nvSpPr>
          <p:cNvPr name="Freeform 50" id="50"/>
          <p:cNvSpPr/>
          <p:nvPr/>
        </p:nvSpPr>
        <p:spPr>
          <a:xfrm flipH="false" flipV="false" rot="0">
            <a:off x="1042987" y="7063740"/>
            <a:ext cx="96012" cy="1303020"/>
          </a:xfrm>
          <a:custGeom>
            <a:avLst/>
            <a:gdLst/>
            <a:ahLst/>
            <a:cxnLst/>
            <a:rect r="r" b="b" t="t" l="l"/>
            <a:pathLst>
              <a:path h="1303020" w="96012">
                <a:moveTo>
                  <a:pt x="0" y="0"/>
                </a:moveTo>
                <a:lnTo>
                  <a:pt x="96012" y="0"/>
                </a:lnTo>
                <a:lnTo>
                  <a:pt x="96012" y="1303020"/>
                </a:lnTo>
                <a:lnTo>
                  <a:pt x="0" y="1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1" id="51"/>
          <p:cNvSpPr/>
          <p:nvPr/>
        </p:nvSpPr>
        <p:spPr>
          <a:xfrm flipH="false" flipV="false" rot="0">
            <a:off x="1385887" y="7310628"/>
            <a:ext cx="7269480" cy="891540"/>
          </a:xfrm>
          <a:custGeom>
            <a:avLst/>
            <a:gdLst/>
            <a:ahLst/>
            <a:cxnLst/>
            <a:rect r="r" b="b" t="t" l="l"/>
            <a:pathLst>
              <a:path h="891540" w="7269480">
                <a:moveTo>
                  <a:pt x="0" y="0"/>
                </a:moveTo>
                <a:lnTo>
                  <a:pt x="7269481" y="0"/>
                </a:lnTo>
                <a:lnTo>
                  <a:pt x="7269481" y="891540"/>
                </a:lnTo>
                <a:lnTo>
                  <a:pt x="0" y="891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2" id="52"/>
          <p:cNvGrpSpPr/>
          <p:nvPr/>
        </p:nvGrpSpPr>
        <p:grpSpPr>
          <a:xfrm rot="0">
            <a:off x="9205451" y="7031093"/>
            <a:ext cx="8020988" cy="1437308"/>
            <a:chOff x="0" y="0"/>
            <a:chExt cx="7129767" cy="1277607"/>
          </a:xfrm>
        </p:grpSpPr>
        <p:sp>
          <p:nvSpPr>
            <p:cNvPr name="Freeform 53" id="53"/>
            <p:cNvSpPr/>
            <p:nvPr/>
          </p:nvSpPr>
          <p:spPr>
            <a:xfrm flipH="false" flipV="false" rot="0">
              <a:off x="0" y="0"/>
              <a:ext cx="7129780" cy="1277620"/>
            </a:xfrm>
            <a:custGeom>
              <a:avLst/>
              <a:gdLst/>
              <a:ahLst/>
              <a:cxnLst/>
              <a:rect r="r" b="b" t="t" l="l"/>
              <a:pathLst>
                <a:path h="1277620" w="7129780">
                  <a:moveTo>
                    <a:pt x="0" y="0"/>
                  </a:moveTo>
                  <a:lnTo>
                    <a:pt x="7129780" y="0"/>
                  </a:lnTo>
                  <a:lnTo>
                    <a:pt x="7129780" y="1277620"/>
                  </a:lnTo>
                  <a:lnTo>
                    <a:pt x="0" y="12776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4" id="54"/>
          <p:cNvSpPr/>
          <p:nvPr/>
        </p:nvSpPr>
        <p:spPr>
          <a:xfrm flipH="false" flipV="false" rot="0">
            <a:off x="9170189" y="6961341"/>
            <a:ext cx="8091483" cy="1507803"/>
          </a:xfrm>
          <a:custGeom>
            <a:avLst/>
            <a:gdLst/>
            <a:ahLst/>
            <a:cxnLst/>
            <a:rect r="r" b="b" t="t" l="l"/>
            <a:pathLst>
              <a:path h="1507803" w="8091483">
                <a:moveTo>
                  <a:pt x="0" y="0"/>
                </a:moveTo>
                <a:lnTo>
                  <a:pt x="8091483" y="0"/>
                </a:lnTo>
                <a:lnTo>
                  <a:pt x="8091483" y="1507803"/>
                </a:lnTo>
                <a:lnTo>
                  <a:pt x="0" y="150780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5" id="55"/>
          <p:cNvGrpSpPr/>
          <p:nvPr/>
        </p:nvGrpSpPr>
        <p:grpSpPr>
          <a:xfrm rot="0">
            <a:off x="9212594" y="7038237"/>
            <a:ext cx="216013" cy="1423021"/>
            <a:chOff x="0" y="0"/>
            <a:chExt cx="192011" cy="1264907"/>
          </a:xfrm>
        </p:grpSpPr>
        <p:sp>
          <p:nvSpPr>
            <p:cNvPr name="Freeform 56" id="56"/>
            <p:cNvSpPr/>
            <p:nvPr/>
          </p:nvSpPr>
          <p:spPr>
            <a:xfrm flipH="false" flipV="false" rot="0">
              <a:off x="0" y="0"/>
              <a:ext cx="192024" cy="1264920"/>
            </a:xfrm>
            <a:custGeom>
              <a:avLst/>
              <a:gdLst/>
              <a:ahLst/>
              <a:cxnLst/>
              <a:rect r="r" b="b" t="t" l="l"/>
              <a:pathLst>
                <a:path h="126492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264920"/>
                  </a:lnTo>
                  <a:lnTo>
                    <a:pt x="0" y="12649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1"/>
              </a:stretch>
            </a:blipFill>
          </p:spPr>
        </p:sp>
      </p:grpSp>
      <p:sp>
        <p:nvSpPr>
          <p:cNvPr name="Freeform 57" id="57"/>
          <p:cNvSpPr/>
          <p:nvPr/>
        </p:nvSpPr>
        <p:spPr>
          <a:xfrm flipH="false" flipV="false" rot="0">
            <a:off x="9272588" y="7063740"/>
            <a:ext cx="96012" cy="1303020"/>
          </a:xfrm>
          <a:custGeom>
            <a:avLst/>
            <a:gdLst/>
            <a:ahLst/>
            <a:cxnLst/>
            <a:rect r="r" b="b" t="t" l="l"/>
            <a:pathLst>
              <a:path h="1303020" w="96012">
                <a:moveTo>
                  <a:pt x="0" y="0"/>
                </a:moveTo>
                <a:lnTo>
                  <a:pt x="96012" y="0"/>
                </a:lnTo>
                <a:lnTo>
                  <a:pt x="96012" y="1303020"/>
                </a:lnTo>
                <a:lnTo>
                  <a:pt x="0" y="130302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8" id="58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9" id="59"/>
          <p:cNvSpPr/>
          <p:nvPr/>
        </p:nvSpPr>
        <p:spPr>
          <a:xfrm flipH="false" flipV="false" rot="0">
            <a:off x="997082" y="344072"/>
            <a:ext cx="16321954" cy="831147"/>
          </a:xfrm>
          <a:custGeom>
            <a:avLst/>
            <a:gdLst/>
            <a:ahLst/>
            <a:cxnLst/>
            <a:rect r="r" b="b" t="t" l="l"/>
            <a:pathLst>
              <a:path h="831147" w="16321954">
                <a:moveTo>
                  <a:pt x="0" y="0"/>
                </a:moveTo>
                <a:lnTo>
                  <a:pt x="16321954" y="0"/>
                </a:lnTo>
                <a:lnTo>
                  <a:pt x="16321954" y="831146"/>
                </a:lnTo>
                <a:lnTo>
                  <a:pt x="0" y="83114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0" id="60"/>
          <p:cNvSpPr/>
          <p:nvPr/>
        </p:nvSpPr>
        <p:spPr>
          <a:xfrm flipH="false" flipV="false" rot="0">
            <a:off x="9615487" y="7310628"/>
            <a:ext cx="7269480" cy="891540"/>
          </a:xfrm>
          <a:custGeom>
            <a:avLst/>
            <a:gdLst/>
            <a:ahLst/>
            <a:cxnLst/>
            <a:rect r="r" b="b" t="t" l="l"/>
            <a:pathLst>
              <a:path h="891540" w="7269480">
                <a:moveTo>
                  <a:pt x="0" y="0"/>
                </a:moveTo>
                <a:lnTo>
                  <a:pt x="7269481" y="0"/>
                </a:lnTo>
                <a:lnTo>
                  <a:pt x="7269481" y="891540"/>
                </a:lnTo>
                <a:lnTo>
                  <a:pt x="0" y="89154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1" id="61"/>
          <p:cNvSpPr txBox="true"/>
          <p:nvPr/>
        </p:nvSpPr>
        <p:spPr>
          <a:xfrm rot="0">
            <a:off x="1103052" y="1101295"/>
            <a:ext cx="2564406" cy="69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b="true" sz="3749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Key Features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14475" y="2351989"/>
            <a:ext cx="6421005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al-Time Monitoring</a:t>
            </a:r>
          </a:p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itors security events and system activity continuously.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514475" y="3997909"/>
            <a:ext cx="6624302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Attack 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Detection</a:t>
            </a:r>
          </a:p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etects Brute Force, SQL Injection and Malware C2 attacks.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514475" y="7289749"/>
            <a:ext cx="6421005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8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Incident R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esponse</a:t>
            </a:r>
          </a:p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rovides recommended actions for detected threats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514475" y="5643829"/>
            <a:ext cx="6053330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</a:t>
            </a:r>
            <a:r>
              <a:rPr lang="en-US" b="true" sz="2699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reat Analysis</a:t>
            </a:r>
          </a:p>
          <a:p>
            <a:pPr algn="l">
              <a:lnSpc>
                <a:spcPts val="2834"/>
              </a:lnSpc>
            </a:pPr>
            <a:r>
              <a:rPr lang="en-US" b="true" sz="2024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</a:t>
            </a:r>
            <a:r>
              <a:rPr lang="en-US" b="true" sz="2024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lyzes behavior and identifies suspicious patterns.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744075" y="2351989"/>
            <a:ext cx="6403374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Thre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 Detection</a:t>
            </a:r>
          </a:p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Uses AI to analyz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e suspicious activity and identify threats.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9744075" y="7289749"/>
            <a:ext cx="6576085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Secu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rity Insights</a:t>
            </a:r>
          </a:p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Presents thre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at details and actionable security information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744075" y="5643829"/>
            <a:ext cx="6403374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Pat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tern Recognition</a:t>
            </a:r>
          </a:p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Detects repe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ated or unusual activity patterns..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9744075" y="3997909"/>
            <a:ext cx="6089320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ert Prioritization</a:t>
            </a:r>
          </a:p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Sep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arates critical threats from normal activity.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02995" y="9692678"/>
            <a:ext cx="2572293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6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125669" y="274349"/>
            <a:ext cx="4431440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Proposed Solution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9153" y="521965"/>
            <a:ext cx="16512535" cy="1726687"/>
          </a:xfrm>
          <a:custGeom>
            <a:avLst/>
            <a:gdLst/>
            <a:ahLst/>
            <a:cxnLst/>
            <a:rect r="r" b="b" t="t" l="l"/>
            <a:pathLst>
              <a:path h="1726687" w="16512535">
                <a:moveTo>
                  <a:pt x="0" y="0"/>
                </a:moveTo>
                <a:lnTo>
                  <a:pt x="16512535" y="0"/>
                </a:lnTo>
                <a:lnTo>
                  <a:pt x="16512535" y="1726687"/>
                </a:lnTo>
                <a:lnTo>
                  <a:pt x="0" y="1726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4431" y="2230493"/>
            <a:ext cx="5282360" cy="1231568"/>
            <a:chOff x="0" y="0"/>
            <a:chExt cx="4695431" cy="10947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95444" cy="1094740"/>
            </a:xfrm>
            <a:custGeom>
              <a:avLst/>
              <a:gdLst/>
              <a:ahLst/>
              <a:cxnLst/>
              <a:rect r="r" b="b" t="t" l="l"/>
              <a:pathLst>
                <a:path h="1094740" w="4695444">
                  <a:moveTo>
                    <a:pt x="0" y="0"/>
                  </a:moveTo>
                  <a:lnTo>
                    <a:pt x="4695444" y="0"/>
                  </a:lnTo>
                  <a:lnTo>
                    <a:pt x="4695444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09169" y="2160741"/>
            <a:ext cx="5352855" cy="1302063"/>
          </a:xfrm>
          <a:custGeom>
            <a:avLst/>
            <a:gdLst/>
            <a:ahLst/>
            <a:cxnLst/>
            <a:rect r="r" b="b" t="t" l="l"/>
            <a:pathLst>
              <a:path h="1302063" w="5352855">
                <a:moveTo>
                  <a:pt x="0" y="0"/>
                </a:moveTo>
                <a:lnTo>
                  <a:pt x="5352855" y="0"/>
                </a:lnTo>
                <a:lnTo>
                  <a:pt x="5352855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6254510" y="2539389"/>
            <a:ext cx="298309" cy="613777"/>
            <a:chOff x="0" y="0"/>
            <a:chExt cx="265163" cy="54557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2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6314503" y="256489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6494255" y="2230493"/>
            <a:ext cx="5282360" cy="1231568"/>
            <a:chOff x="0" y="0"/>
            <a:chExt cx="4695431" cy="109472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4695444" cy="1094740"/>
            </a:xfrm>
            <a:custGeom>
              <a:avLst/>
              <a:gdLst/>
              <a:ahLst/>
              <a:cxnLst/>
              <a:rect r="r" b="b" t="t" l="l"/>
              <a:pathLst>
                <a:path h="1094740" w="4695444">
                  <a:moveTo>
                    <a:pt x="0" y="0"/>
                  </a:moveTo>
                  <a:lnTo>
                    <a:pt x="4695444" y="0"/>
                  </a:lnTo>
                  <a:lnTo>
                    <a:pt x="4695444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6458993" y="2160741"/>
            <a:ext cx="5352855" cy="1302063"/>
          </a:xfrm>
          <a:custGeom>
            <a:avLst/>
            <a:gdLst/>
            <a:ahLst/>
            <a:cxnLst/>
            <a:rect r="r" b="b" t="t" l="l"/>
            <a:pathLst>
              <a:path h="1302063" w="5352855">
                <a:moveTo>
                  <a:pt x="0" y="0"/>
                </a:moveTo>
                <a:lnTo>
                  <a:pt x="5352855" y="0"/>
                </a:lnTo>
                <a:lnTo>
                  <a:pt x="5352855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704334" y="2539389"/>
            <a:ext cx="298309" cy="613777"/>
            <a:chOff x="0" y="0"/>
            <a:chExt cx="265163" cy="545579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4" b="2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1764328" y="256489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944064" y="2230493"/>
            <a:ext cx="5282360" cy="1231568"/>
            <a:chOff x="0" y="0"/>
            <a:chExt cx="4695431" cy="109472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695444" cy="1094740"/>
            </a:xfrm>
            <a:custGeom>
              <a:avLst/>
              <a:gdLst/>
              <a:ahLst/>
              <a:cxnLst/>
              <a:rect r="r" b="b" t="t" l="l"/>
              <a:pathLst>
                <a:path h="1094740" w="4695444">
                  <a:moveTo>
                    <a:pt x="0" y="0"/>
                  </a:moveTo>
                  <a:lnTo>
                    <a:pt x="4695444" y="0"/>
                  </a:lnTo>
                  <a:lnTo>
                    <a:pt x="4695444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1908817" y="2160741"/>
            <a:ext cx="5352855" cy="1302063"/>
          </a:xfrm>
          <a:custGeom>
            <a:avLst/>
            <a:gdLst/>
            <a:ahLst/>
            <a:cxnLst/>
            <a:rect r="r" b="b" t="t" l="l"/>
            <a:pathLst>
              <a:path h="1302063" w="5352855">
                <a:moveTo>
                  <a:pt x="0" y="0"/>
                </a:moveTo>
                <a:lnTo>
                  <a:pt x="5352855" y="0"/>
                </a:lnTo>
                <a:lnTo>
                  <a:pt x="5352855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81591" y="4082153"/>
            <a:ext cx="5003468" cy="2397428"/>
            <a:chOff x="0" y="0"/>
            <a:chExt cx="4447527" cy="213104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4447540" cy="2131060"/>
            </a:xfrm>
            <a:custGeom>
              <a:avLst/>
              <a:gdLst/>
              <a:ahLst/>
              <a:cxnLst/>
              <a:rect r="r" b="b" t="t" l="l"/>
              <a:pathLst>
                <a:path h="2131060" w="4447540">
                  <a:moveTo>
                    <a:pt x="0" y="0"/>
                  </a:moveTo>
                  <a:lnTo>
                    <a:pt x="4447540" y="0"/>
                  </a:lnTo>
                  <a:lnTo>
                    <a:pt x="4447540" y="2131060"/>
                  </a:lnTo>
                  <a:lnTo>
                    <a:pt x="0" y="2131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146329" y="4012401"/>
            <a:ext cx="5073963" cy="2467923"/>
          </a:xfrm>
          <a:custGeom>
            <a:avLst/>
            <a:gdLst/>
            <a:ahLst/>
            <a:cxnLst/>
            <a:rect r="r" b="b" t="t" l="l"/>
            <a:pathLst>
              <a:path h="2467923" w="5073963">
                <a:moveTo>
                  <a:pt x="0" y="0"/>
                </a:moveTo>
                <a:lnTo>
                  <a:pt x="5073963" y="0"/>
                </a:lnTo>
                <a:lnTo>
                  <a:pt x="5073963" y="2467923"/>
                </a:lnTo>
                <a:lnTo>
                  <a:pt x="0" y="24679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248728" y="4114800"/>
            <a:ext cx="96012" cy="2263140"/>
          </a:xfrm>
          <a:custGeom>
            <a:avLst/>
            <a:gdLst/>
            <a:ahLst/>
            <a:cxnLst/>
            <a:rect r="r" b="b" t="t" l="l"/>
            <a:pathLst>
              <a:path h="2263140" w="96012">
                <a:moveTo>
                  <a:pt x="0" y="0"/>
                </a:moveTo>
                <a:lnTo>
                  <a:pt x="96012" y="0"/>
                </a:lnTo>
                <a:lnTo>
                  <a:pt x="96012" y="2263140"/>
                </a:lnTo>
                <a:lnTo>
                  <a:pt x="0" y="22631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1591628" y="4361688"/>
            <a:ext cx="4251960" cy="1851660"/>
          </a:xfrm>
          <a:custGeom>
            <a:avLst/>
            <a:gdLst/>
            <a:ahLst/>
            <a:cxnLst/>
            <a:rect r="r" b="b" t="t" l="l"/>
            <a:pathLst>
              <a:path h="1851660" w="4251960">
                <a:moveTo>
                  <a:pt x="0" y="0"/>
                </a:moveTo>
                <a:lnTo>
                  <a:pt x="4251960" y="0"/>
                </a:lnTo>
                <a:lnTo>
                  <a:pt x="4251960" y="1851660"/>
                </a:lnTo>
                <a:lnTo>
                  <a:pt x="0" y="18516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1188734" y="4089297"/>
            <a:ext cx="216013" cy="2383141"/>
            <a:chOff x="0" y="0"/>
            <a:chExt cx="192011" cy="211834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192024" cy="2118360"/>
            </a:xfrm>
            <a:custGeom>
              <a:avLst/>
              <a:gdLst/>
              <a:ahLst/>
              <a:cxnLst/>
              <a:rect r="r" b="b" t="t" l="l"/>
              <a:pathLst>
                <a:path h="21183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118360"/>
                  </a:lnTo>
                  <a:lnTo>
                    <a:pt x="0" y="2118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6" b="0"/>
              </a:stretch>
            </a:blipFill>
          </p:spPr>
        </p:sp>
      </p:grpSp>
      <p:grpSp>
        <p:nvGrpSpPr>
          <p:cNvPr name="Group 25" id="25"/>
          <p:cNvGrpSpPr/>
          <p:nvPr/>
        </p:nvGrpSpPr>
        <p:grpSpPr>
          <a:xfrm rot="0">
            <a:off x="6667991" y="4082153"/>
            <a:ext cx="5003468" cy="2397428"/>
            <a:chOff x="0" y="0"/>
            <a:chExt cx="4447527" cy="2131047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447540" cy="2131060"/>
            </a:xfrm>
            <a:custGeom>
              <a:avLst/>
              <a:gdLst/>
              <a:ahLst/>
              <a:cxnLst/>
              <a:rect r="r" b="b" t="t" l="l"/>
              <a:pathLst>
                <a:path h="2131060" w="4447540">
                  <a:moveTo>
                    <a:pt x="0" y="0"/>
                  </a:moveTo>
                  <a:lnTo>
                    <a:pt x="4447540" y="0"/>
                  </a:lnTo>
                  <a:lnTo>
                    <a:pt x="4447540" y="2131060"/>
                  </a:lnTo>
                  <a:lnTo>
                    <a:pt x="0" y="2131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27" id="27"/>
          <p:cNvSpPr/>
          <p:nvPr/>
        </p:nvSpPr>
        <p:spPr>
          <a:xfrm flipH="false" flipV="false" rot="0">
            <a:off x="6632729" y="4012401"/>
            <a:ext cx="5073963" cy="2467923"/>
          </a:xfrm>
          <a:custGeom>
            <a:avLst/>
            <a:gdLst/>
            <a:ahLst/>
            <a:cxnLst/>
            <a:rect r="r" b="b" t="t" l="l"/>
            <a:pathLst>
              <a:path h="2467923" w="5073963">
                <a:moveTo>
                  <a:pt x="0" y="0"/>
                </a:moveTo>
                <a:lnTo>
                  <a:pt x="5073963" y="0"/>
                </a:lnTo>
                <a:lnTo>
                  <a:pt x="5073963" y="2467923"/>
                </a:lnTo>
                <a:lnTo>
                  <a:pt x="0" y="24679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8" id="28"/>
          <p:cNvGrpSpPr/>
          <p:nvPr/>
        </p:nvGrpSpPr>
        <p:grpSpPr>
          <a:xfrm rot="0">
            <a:off x="6675134" y="4089297"/>
            <a:ext cx="216013" cy="2383141"/>
            <a:chOff x="0" y="0"/>
            <a:chExt cx="192011" cy="2118347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192024" cy="2118360"/>
            </a:xfrm>
            <a:custGeom>
              <a:avLst/>
              <a:gdLst/>
              <a:ahLst/>
              <a:cxnLst/>
              <a:rect r="r" b="b" t="t" l="l"/>
              <a:pathLst>
                <a:path h="21183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118360"/>
                  </a:lnTo>
                  <a:lnTo>
                    <a:pt x="0" y="2118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6" b="0"/>
              </a:stretch>
            </a:blipFill>
          </p:spPr>
        </p:sp>
      </p:grpSp>
      <p:sp>
        <p:nvSpPr>
          <p:cNvPr name="Freeform 30" id="30"/>
          <p:cNvSpPr/>
          <p:nvPr/>
        </p:nvSpPr>
        <p:spPr>
          <a:xfrm flipH="false" flipV="false" rot="0">
            <a:off x="6735128" y="4114800"/>
            <a:ext cx="96012" cy="2263140"/>
          </a:xfrm>
          <a:custGeom>
            <a:avLst/>
            <a:gdLst/>
            <a:ahLst/>
            <a:cxnLst/>
            <a:rect r="r" b="b" t="t" l="l"/>
            <a:pathLst>
              <a:path h="2263140" w="96012">
                <a:moveTo>
                  <a:pt x="0" y="0"/>
                </a:moveTo>
                <a:lnTo>
                  <a:pt x="96012" y="0"/>
                </a:lnTo>
                <a:lnTo>
                  <a:pt x="96012" y="2263140"/>
                </a:lnTo>
                <a:lnTo>
                  <a:pt x="0" y="22631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7078028" y="4361688"/>
            <a:ext cx="4251960" cy="1851660"/>
          </a:xfrm>
          <a:custGeom>
            <a:avLst/>
            <a:gdLst/>
            <a:ahLst/>
            <a:cxnLst/>
            <a:rect r="r" b="b" t="t" l="l"/>
            <a:pathLst>
              <a:path h="1851660" w="4251960">
                <a:moveTo>
                  <a:pt x="0" y="0"/>
                </a:moveTo>
                <a:lnTo>
                  <a:pt x="4251960" y="0"/>
                </a:lnTo>
                <a:lnTo>
                  <a:pt x="4251960" y="1851660"/>
                </a:lnTo>
                <a:lnTo>
                  <a:pt x="0" y="18516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12154391" y="4082153"/>
            <a:ext cx="5003468" cy="2397428"/>
            <a:chOff x="0" y="0"/>
            <a:chExt cx="4447527" cy="2131047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447540" cy="2131060"/>
            </a:xfrm>
            <a:custGeom>
              <a:avLst/>
              <a:gdLst/>
              <a:ahLst/>
              <a:cxnLst/>
              <a:rect r="r" b="b" t="t" l="l"/>
              <a:pathLst>
                <a:path h="2131060" w="4447540">
                  <a:moveTo>
                    <a:pt x="0" y="0"/>
                  </a:moveTo>
                  <a:lnTo>
                    <a:pt x="4447540" y="0"/>
                  </a:lnTo>
                  <a:lnTo>
                    <a:pt x="4447540" y="2131060"/>
                  </a:lnTo>
                  <a:lnTo>
                    <a:pt x="0" y="2131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l="0" t="0" r="0" b="0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12119129" y="4012401"/>
            <a:ext cx="5073963" cy="2467923"/>
          </a:xfrm>
          <a:custGeom>
            <a:avLst/>
            <a:gdLst/>
            <a:ahLst/>
            <a:cxnLst/>
            <a:rect r="r" b="b" t="t" l="l"/>
            <a:pathLst>
              <a:path h="2467923" w="5073963">
                <a:moveTo>
                  <a:pt x="0" y="0"/>
                </a:moveTo>
                <a:lnTo>
                  <a:pt x="5073963" y="0"/>
                </a:lnTo>
                <a:lnTo>
                  <a:pt x="5073963" y="2467923"/>
                </a:lnTo>
                <a:lnTo>
                  <a:pt x="0" y="2467923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12161534" y="4089297"/>
            <a:ext cx="216013" cy="2383141"/>
            <a:chOff x="0" y="0"/>
            <a:chExt cx="192011" cy="211834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192024" cy="2118360"/>
            </a:xfrm>
            <a:custGeom>
              <a:avLst/>
              <a:gdLst/>
              <a:ahLst/>
              <a:cxnLst/>
              <a:rect r="r" b="b" t="t" l="l"/>
              <a:pathLst>
                <a:path h="21183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118360"/>
                  </a:lnTo>
                  <a:lnTo>
                    <a:pt x="0" y="21183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8"/>
              <a:stretch>
                <a:fillRect l="0" t="0" r="6" b="0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12221528" y="4114800"/>
            <a:ext cx="96012" cy="2263140"/>
          </a:xfrm>
          <a:custGeom>
            <a:avLst/>
            <a:gdLst/>
            <a:ahLst/>
            <a:cxnLst/>
            <a:rect r="r" b="b" t="t" l="l"/>
            <a:pathLst>
              <a:path h="2263140" w="96012">
                <a:moveTo>
                  <a:pt x="0" y="0"/>
                </a:moveTo>
                <a:lnTo>
                  <a:pt x="96011" y="0"/>
                </a:lnTo>
                <a:lnTo>
                  <a:pt x="96011" y="2263140"/>
                </a:lnTo>
                <a:lnTo>
                  <a:pt x="0" y="2263140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2564428" y="4361688"/>
            <a:ext cx="4251960" cy="1851660"/>
          </a:xfrm>
          <a:custGeom>
            <a:avLst/>
            <a:gdLst/>
            <a:ahLst/>
            <a:cxnLst/>
            <a:rect r="r" b="b" t="t" l="l"/>
            <a:pathLst>
              <a:path h="1851660" w="4251960">
                <a:moveTo>
                  <a:pt x="0" y="0"/>
                </a:moveTo>
                <a:lnTo>
                  <a:pt x="4251960" y="0"/>
                </a:lnTo>
                <a:lnTo>
                  <a:pt x="4251960" y="1851660"/>
                </a:lnTo>
                <a:lnTo>
                  <a:pt x="0" y="1851660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4404851" y="7168253"/>
            <a:ext cx="9529748" cy="1505888"/>
            <a:chOff x="0" y="0"/>
            <a:chExt cx="8470887" cy="1338567"/>
          </a:xfrm>
        </p:grpSpPr>
        <p:sp>
          <p:nvSpPr>
            <p:cNvPr name="Freeform 40" id="40"/>
            <p:cNvSpPr/>
            <p:nvPr/>
          </p:nvSpPr>
          <p:spPr>
            <a:xfrm flipH="false" flipV="false" rot="0">
              <a:off x="0" y="0"/>
              <a:ext cx="8470900" cy="1338580"/>
            </a:xfrm>
            <a:custGeom>
              <a:avLst/>
              <a:gdLst/>
              <a:ahLst/>
              <a:cxnLst/>
              <a:rect r="r" b="b" t="t" l="l"/>
              <a:pathLst>
                <a:path h="1338580" w="8470900">
                  <a:moveTo>
                    <a:pt x="0" y="0"/>
                  </a:moveTo>
                  <a:lnTo>
                    <a:pt x="8470900" y="0"/>
                  </a:lnTo>
                  <a:lnTo>
                    <a:pt x="8470900" y="1338580"/>
                  </a:lnTo>
                  <a:lnTo>
                    <a:pt x="0" y="13385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9"/>
              <a:stretch>
                <a:fillRect l="0" t="0" r="0" b="0"/>
              </a:stretch>
            </a:blipFill>
          </p:spPr>
        </p:sp>
      </p:grpSp>
      <p:sp>
        <p:nvSpPr>
          <p:cNvPr name="Freeform 41" id="41"/>
          <p:cNvSpPr/>
          <p:nvPr/>
        </p:nvSpPr>
        <p:spPr>
          <a:xfrm flipH="false" flipV="false" rot="0">
            <a:off x="4369589" y="7098501"/>
            <a:ext cx="9600243" cy="1576383"/>
          </a:xfrm>
          <a:custGeom>
            <a:avLst/>
            <a:gdLst/>
            <a:ahLst/>
            <a:cxnLst/>
            <a:rect r="r" b="b" t="t" l="l"/>
            <a:pathLst>
              <a:path h="1576383" w="9600243">
                <a:moveTo>
                  <a:pt x="0" y="0"/>
                </a:moveTo>
                <a:lnTo>
                  <a:pt x="9600243" y="0"/>
                </a:lnTo>
                <a:lnTo>
                  <a:pt x="9600243" y="1576383"/>
                </a:lnTo>
                <a:lnTo>
                  <a:pt x="0" y="1576383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2" id="42"/>
          <p:cNvGrpSpPr/>
          <p:nvPr/>
        </p:nvGrpSpPr>
        <p:grpSpPr>
          <a:xfrm rot="0">
            <a:off x="4411994" y="7175397"/>
            <a:ext cx="216013" cy="1491601"/>
            <a:chOff x="0" y="0"/>
            <a:chExt cx="192011" cy="1325867"/>
          </a:xfrm>
        </p:grpSpPr>
        <p:sp>
          <p:nvSpPr>
            <p:cNvPr name="Freeform 43" id="43"/>
            <p:cNvSpPr/>
            <p:nvPr/>
          </p:nvSpPr>
          <p:spPr>
            <a:xfrm flipH="false" flipV="false" rot="0">
              <a:off x="0" y="0"/>
              <a:ext cx="192024" cy="1325880"/>
            </a:xfrm>
            <a:custGeom>
              <a:avLst/>
              <a:gdLst/>
              <a:ahLst/>
              <a:cxnLst/>
              <a:rect r="r" b="b" t="t" l="l"/>
              <a:pathLst>
                <a:path h="132588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1325880"/>
                  </a:lnTo>
                  <a:lnTo>
                    <a:pt x="0" y="13258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2"/>
              <a:stretch>
                <a:fillRect l="0" t="0" r="6" b="0"/>
              </a:stretch>
            </a:blipFill>
          </p:spPr>
        </p:sp>
      </p:grpSp>
      <p:sp>
        <p:nvSpPr>
          <p:cNvPr name="Freeform 44" id="44"/>
          <p:cNvSpPr/>
          <p:nvPr/>
        </p:nvSpPr>
        <p:spPr>
          <a:xfrm flipH="false" flipV="false" rot="0">
            <a:off x="4471988" y="7200900"/>
            <a:ext cx="96012" cy="1371600"/>
          </a:xfrm>
          <a:custGeom>
            <a:avLst/>
            <a:gdLst/>
            <a:ahLst/>
            <a:cxnLst/>
            <a:rect r="r" b="b" t="t" l="l"/>
            <a:pathLst>
              <a:path h="1371600" w="96012">
                <a:moveTo>
                  <a:pt x="0" y="0"/>
                </a:moveTo>
                <a:lnTo>
                  <a:pt x="96012" y="0"/>
                </a:lnTo>
                <a:lnTo>
                  <a:pt x="96012" y="1371600"/>
                </a:lnTo>
                <a:lnTo>
                  <a:pt x="0" y="1371600"/>
                </a:lnTo>
                <a:lnTo>
                  <a:pt x="0" y="0"/>
                </a:lnTo>
                <a:close/>
              </a:path>
            </a:pathLst>
          </a:custGeom>
          <a:blipFill>
            <a:blip r:embed="rId23">
              <a:extLs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5" id="45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25"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6" id="46"/>
          <p:cNvSpPr/>
          <p:nvPr/>
        </p:nvSpPr>
        <p:spPr>
          <a:xfrm flipH="false" flipV="false" rot="0">
            <a:off x="4780655" y="7285453"/>
            <a:ext cx="8778154" cy="1312207"/>
          </a:xfrm>
          <a:custGeom>
            <a:avLst/>
            <a:gdLst/>
            <a:ahLst/>
            <a:cxnLst/>
            <a:rect r="r" b="b" t="t" l="l"/>
            <a:pathLst>
              <a:path h="1312207" w="8778154">
                <a:moveTo>
                  <a:pt x="0" y="0"/>
                </a:moveTo>
                <a:lnTo>
                  <a:pt x="8778154" y="0"/>
                </a:lnTo>
                <a:lnTo>
                  <a:pt x="8778154" y="1312207"/>
                </a:lnTo>
                <a:lnTo>
                  <a:pt x="0" y="1312207"/>
                </a:lnTo>
                <a:lnTo>
                  <a:pt x="0" y="0"/>
                </a:lnTo>
                <a:close/>
              </a:path>
            </a:pathLst>
          </a:custGeom>
          <a:blipFill>
            <a:blip r:embed="rId27">
              <a:extLst>
                <a:ext uri="{96DAC541-7B7A-43D3-8B79-37D633B846F1}">
                  <asvg:svgBlip xmlns:asvg="http://schemas.microsoft.com/office/drawing/2016/SVG/main" r:embed="rId2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7" id="47"/>
          <p:cNvSpPr txBox="true"/>
          <p:nvPr/>
        </p:nvSpPr>
        <p:spPr>
          <a:xfrm rot="0">
            <a:off x="1102995" y="547497"/>
            <a:ext cx="4679756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Technical Approach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284575" y="1528420"/>
            <a:ext cx="61479" cy="39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2773361" y="2601485"/>
            <a:ext cx="139517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SOC Analyst 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130427" y="1528420"/>
            <a:ext cx="9838908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An end-to-end system connects security events to AI-based threat detection and response.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8218384" y="2586838"/>
            <a:ext cx="1784509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Web Dashboard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3901180" y="2586838"/>
            <a:ext cx="1394717" cy="39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 API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720215" y="4736306"/>
            <a:ext cx="3893339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Monitoring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Engine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Secur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ity Events • Logs • Activity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940953" y="7479506"/>
            <a:ext cx="8339371" cy="757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ecurity Data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Ev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ents • Logs • Alerts • Threat Results • Response Actions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7171382" y="4730306"/>
            <a:ext cx="450007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Dete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ction Engine</a:t>
            </a:r>
          </a:p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Threat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Analysis • Classification • Risk Scoring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12653772" y="4736306"/>
            <a:ext cx="4123373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onse Engine</a:t>
            </a:r>
          </a:p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Alert 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Prioritization • Recommended Actions • Incident Response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1102995" y="9692678"/>
            <a:ext cx="2572293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7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9138" y="206597"/>
            <a:ext cx="16512464" cy="1323151"/>
          </a:xfrm>
          <a:custGeom>
            <a:avLst/>
            <a:gdLst/>
            <a:ahLst/>
            <a:cxnLst/>
            <a:rect r="r" b="b" t="t" l="l"/>
            <a:pathLst>
              <a:path h="1323151" w="16512464">
                <a:moveTo>
                  <a:pt x="0" y="0"/>
                </a:moveTo>
                <a:lnTo>
                  <a:pt x="16512464" y="0"/>
                </a:lnTo>
                <a:lnTo>
                  <a:pt x="16512464" y="1323151"/>
                </a:lnTo>
                <a:lnTo>
                  <a:pt x="0" y="13231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12896" y="1470912"/>
            <a:ext cx="16044934" cy="1162988"/>
            <a:chOff x="0" y="0"/>
            <a:chExt cx="14262164" cy="103376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4262227" cy="1033780"/>
            </a:xfrm>
            <a:custGeom>
              <a:avLst/>
              <a:gdLst/>
              <a:ahLst/>
              <a:cxnLst/>
              <a:rect r="r" b="b" t="t" l="l"/>
              <a:pathLst>
                <a:path h="1033780" w="14262227">
                  <a:moveTo>
                    <a:pt x="0" y="0"/>
                  </a:moveTo>
                  <a:lnTo>
                    <a:pt x="14262227" y="0"/>
                  </a:lnTo>
                  <a:lnTo>
                    <a:pt x="14262227" y="1033780"/>
                  </a:lnTo>
                  <a:lnTo>
                    <a:pt x="0" y="1033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77635" y="1401161"/>
            <a:ext cx="16115443" cy="1233483"/>
          </a:xfrm>
          <a:custGeom>
            <a:avLst/>
            <a:gdLst/>
            <a:ahLst/>
            <a:cxnLst/>
            <a:rect r="r" b="b" t="t" l="l"/>
            <a:pathLst>
              <a:path h="1233483" w="16115443">
                <a:moveTo>
                  <a:pt x="0" y="0"/>
                </a:moveTo>
                <a:lnTo>
                  <a:pt x="16115442" y="0"/>
                </a:lnTo>
                <a:lnTo>
                  <a:pt x="16115442" y="1233483"/>
                </a:lnTo>
                <a:lnTo>
                  <a:pt x="0" y="123348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20040" y="1478099"/>
            <a:ext cx="215856" cy="1148701"/>
            <a:chOff x="0" y="0"/>
            <a:chExt cx="191872" cy="102106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1897" cy="1021080"/>
            </a:xfrm>
            <a:custGeom>
              <a:avLst/>
              <a:gdLst/>
              <a:ahLst/>
              <a:cxnLst/>
              <a:rect r="r" b="b" t="t" l="l"/>
              <a:pathLst>
                <a:path h="1021080" w="191897">
                  <a:moveTo>
                    <a:pt x="0" y="0"/>
                  </a:moveTo>
                  <a:lnTo>
                    <a:pt x="191897" y="0"/>
                  </a:lnTo>
                  <a:lnTo>
                    <a:pt x="191897" y="1021080"/>
                  </a:lnTo>
                  <a:lnTo>
                    <a:pt x="0" y="1021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3" b="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084778" y="1408347"/>
            <a:ext cx="15655428" cy="1253014"/>
          </a:xfrm>
          <a:custGeom>
            <a:avLst/>
            <a:gdLst/>
            <a:ahLst/>
            <a:cxnLst/>
            <a:rect r="r" b="b" t="t" l="l"/>
            <a:pathLst>
              <a:path h="1253014" w="15655428">
                <a:moveTo>
                  <a:pt x="0" y="0"/>
                </a:moveTo>
                <a:lnTo>
                  <a:pt x="15655429" y="0"/>
                </a:lnTo>
                <a:lnTo>
                  <a:pt x="15655429" y="1253014"/>
                </a:lnTo>
                <a:lnTo>
                  <a:pt x="0" y="1253014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12896" y="2650531"/>
            <a:ext cx="16044934" cy="1162988"/>
            <a:chOff x="0" y="0"/>
            <a:chExt cx="14262164" cy="1033767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4262227" cy="1033780"/>
            </a:xfrm>
            <a:custGeom>
              <a:avLst/>
              <a:gdLst/>
              <a:ahLst/>
              <a:cxnLst/>
              <a:rect r="r" b="b" t="t" l="l"/>
              <a:pathLst>
                <a:path h="1033780" w="14262227">
                  <a:moveTo>
                    <a:pt x="0" y="0"/>
                  </a:moveTo>
                  <a:lnTo>
                    <a:pt x="14262227" y="0"/>
                  </a:lnTo>
                  <a:lnTo>
                    <a:pt x="14262227" y="1033780"/>
                  </a:lnTo>
                  <a:lnTo>
                    <a:pt x="0" y="1033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0">
            <a:off x="1077635" y="2580780"/>
            <a:ext cx="16115443" cy="1233483"/>
          </a:xfrm>
          <a:custGeom>
            <a:avLst/>
            <a:gdLst/>
            <a:ahLst/>
            <a:cxnLst/>
            <a:rect r="r" b="b" t="t" l="l"/>
            <a:pathLst>
              <a:path h="1233483" w="16115443">
                <a:moveTo>
                  <a:pt x="0" y="0"/>
                </a:moveTo>
                <a:lnTo>
                  <a:pt x="16115442" y="0"/>
                </a:lnTo>
                <a:lnTo>
                  <a:pt x="16115442" y="1233482"/>
                </a:lnTo>
                <a:lnTo>
                  <a:pt x="0" y="1233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2" id="12"/>
          <p:cNvGrpSpPr/>
          <p:nvPr/>
        </p:nvGrpSpPr>
        <p:grpSpPr>
          <a:xfrm rot="0">
            <a:off x="1120040" y="2657675"/>
            <a:ext cx="215856" cy="1148701"/>
            <a:chOff x="0" y="0"/>
            <a:chExt cx="191872" cy="1021067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191897" cy="1021080"/>
            </a:xfrm>
            <a:custGeom>
              <a:avLst/>
              <a:gdLst/>
              <a:ahLst/>
              <a:cxnLst/>
              <a:rect r="r" b="b" t="t" l="l"/>
              <a:pathLst>
                <a:path h="1021080" w="191897">
                  <a:moveTo>
                    <a:pt x="0" y="0"/>
                  </a:moveTo>
                  <a:lnTo>
                    <a:pt x="191897" y="0"/>
                  </a:lnTo>
                  <a:lnTo>
                    <a:pt x="191897" y="1021080"/>
                  </a:lnTo>
                  <a:lnTo>
                    <a:pt x="0" y="1021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3" b="1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0">
            <a:off x="1084778" y="2587923"/>
            <a:ext cx="15655428" cy="1219195"/>
          </a:xfrm>
          <a:custGeom>
            <a:avLst/>
            <a:gdLst/>
            <a:ahLst/>
            <a:cxnLst/>
            <a:rect r="r" b="b" t="t" l="l"/>
            <a:pathLst>
              <a:path h="1219195" w="15655428">
                <a:moveTo>
                  <a:pt x="0" y="0"/>
                </a:moveTo>
                <a:lnTo>
                  <a:pt x="15655429" y="0"/>
                </a:lnTo>
                <a:lnTo>
                  <a:pt x="15655429" y="1219196"/>
                </a:lnTo>
                <a:lnTo>
                  <a:pt x="0" y="12191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0">
            <a:off x="1112896" y="3830107"/>
            <a:ext cx="16044934" cy="1162988"/>
            <a:chOff x="0" y="0"/>
            <a:chExt cx="14262164" cy="1033767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14262227" cy="1033780"/>
            </a:xfrm>
            <a:custGeom>
              <a:avLst/>
              <a:gdLst/>
              <a:ahLst/>
              <a:cxnLst/>
              <a:rect r="r" b="b" t="t" l="l"/>
              <a:pathLst>
                <a:path h="1033780" w="14262227">
                  <a:moveTo>
                    <a:pt x="0" y="0"/>
                  </a:moveTo>
                  <a:lnTo>
                    <a:pt x="14262227" y="0"/>
                  </a:lnTo>
                  <a:lnTo>
                    <a:pt x="14262227" y="1033780"/>
                  </a:lnTo>
                  <a:lnTo>
                    <a:pt x="0" y="1033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17" id="17"/>
          <p:cNvSpPr/>
          <p:nvPr/>
        </p:nvSpPr>
        <p:spPr>
          <a:xfrm flipH="false" flipV="false" rot="0">
            <a:off x="1077635" y="3760356"/>
            <a:ext cx="16115443" cy="1233483"/>
          </a:xfrm>
          <a:custGeom>
            <a:avLst/>
            <a:gdLst/>
            <a:ahLst/>
            <a:cxnLst/>
            <a:rect r="r" b="b" t="t" l="l"/>
            <a:pathLst>
              <a:path h="1233483" w="16115443">
                <a:moveTo>
                  <a:pt x="0" y="0"/>
                </a:moveTo>
                <a:lnTo>
                  <a:pt x="16115442" y="0"/>
                </a:lnTo>
                <a:lnTo>
                  <a:pt x="16115442" y="1233482"/>
                </a:lnTo>
                <a:lnTo>
                  <a:pt x="0" y="1233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1120040" y="3837251"/>
            <a:ext cx="215856" cy="1148701"/>
            <a:chOff x="0" y="0"/>
            <a:chExt cx="191872" cy="1021067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191897" cy="1021080"/>
            </a:xfrm>
            <a:custGeom>
              <a:avLst/>
              <a:gdLst/>
              <a:ahLst/>
              <a:cxnLst/>
              <a:rect r="r" b="b" t="t" l="l"/>
              <a:pathLst>
                <a:path h="1021080" w="191897">
                  <a:moveTo>
                    <a:pt x="0" y="0"/>
                  </a:moveTo>
                  <a:lnTo>
                    <a:pt x="191897" y="0"/>
                  </a:lnTo>
                  <a:lnTo>
                    <a:pt x="191897" y="1021080"/>
                  </a:lnTo>
                  <a:lnTo>
                    <a:pt x="0" y="1021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3" b="1"/>
              </a:stretch>
            </a:blipFill>
          </p:spPr>
        </p:sp>
      </p:grpSp>
      <p:sp>
        <p:nvSpPr>
          <p:cNvPr name="Freeform 20" id="20"/>
          <p:cNvSpPr/>
          <p:nvPr/>
        </p:nvSpPr>
        <p:spPr>
          <a:xfrm flipH="false" flipV="false" rot="0">
            <a:off x="1084778" y="3767499"/>
            <a:ext cx="15655442" cy="1219195"/>
          </a:xfrm>
          <a:custGeom>
            <a:avLst/>
            <a:gdLst/>
            <a:ahLst/>
            <a:cxnLst/>
            <a:rect r="r" b="b" t="t" l="l"/>
            <a:pathLst>
              <a:path h="1219195" w="15655442">
                <a:moveTo>
                  <a:pt x="0" y="0"/>
                </a:moveTo>
                <a:lnTo>
                  <a:pt x="15655443" y="0"/>
                </a:lnTo>
                <a:lnTo>
                  <a:pt x="15655443" y="1219196"/>
                </a:lnTo>
                <a:lnTo>
                  <a:pt x="0" y="12191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1112896" y="5009683"/>
            <a:ext cx="16044934" cy="1162988"/>
            <a:chOff x="0" y="0"/>
            <a:chExt cx="14262164" cy="1033767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14262227" cy="1033780"/>
            </a:xfrm>
            <a:custGeom>
              <a:avLst/>
              <a:gdLst/>
              <a:ahLst/>
              <a:cxnLst/>
              <a:rect r="r" b="b" t="t" l="l"/>
              <a:pathLst>
                <a:path h="1033780" w="14262227">
                  <a:moveTo>
                    <a:pt x="0" y="0"/>
                  </a:moveTo>
                  <a:lnTo>
                    <a:pt x="14262227" y="0"/>
                  </a:lnTo>
                  <a:lnTo>
                    <a:pt x="14262227" y="1033780"/>
                  </a:lnTo>
                  <a:lnTo>
                    <a:pt x="0" y="1033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23" id="23"/>
          <p:cNvSpPr/>
          <p:nvPr/>
        </p:nvSpPr>
        <p:spPr>
          <a:xfrm flipH="false" flipV="false" rot="0">
            <a:off x="1077635" y="4939932"/>
            <a:ext cx="16115443" cy="1233483"/>
          </a:xfrm>
          <a:custGeom>
            <a:avLst/>
            <a:gdLst/>
            <a:ahLst/>
            <a:cxnLst/>
            <a:rect r="r" b="b" t="t" l="l"/>
            <a:pathLst>
              <a:path h="1233483" w="16115443">
                <a:moveTo>
                  <a:pt x="0" y="0"/>
                </a:moveTo>
                <a:lnTo>
                  <a:pt x="16115442" y="0"/>
                </a:lnTo>
                <a:lnTo>
                  <a:pt x="16115442" y="1233482"/>
                </a:lnTo>
                <a:lnTo>
                  <a:pt x="0" y="1233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1120040" y="5016827"/>
            <a:ext cx="215856" cy="1148701"/>
            <a:chOff x="0" y="0"/>
            <a:chExt cx="191872" cy="1021067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91897" cy="1021080"/>
            </a:xfrm>
            <a:custGeom>
              <a:avLst/>
              <a:gdLst/>
              <a:ahLst/>
              <a:cxnLst/>
              <a:rect r="r" b="b" t="t" l="l"/>
              <a:pathLst>
                <a:path h="1021080" w="191897">
                  <a:moveTo>
                    <a:pt x="0" y="0"/>
                  </a:moveTo>
                  <a:lnTo>
                    <a:pt x="191897" y="0"/>
                  </a:lnTo>
                  <a:lnTo>
                    <a:pt x="191897" y="1021080"/>
                  </a:lnTo>
                  <a:lnTo>
                    <a:pt x="0" y="1021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3" b="1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1084778" y="4947075"/>
            <a:ext cx="15655428" cy="1219195"/>
          </a:xfrm>
          <a:custGeom>
            <a:avLst/>
            <a:gdLst/>
            <a:ahLst/>
            <a:cxnLst/>
            <a:rect r="r" b="b" t="t" l="l"/>
            <a:pathLst>
              <a:path h="1219195" w="15655428">
                <a:moveTo>
                  <a:pt x="0" y="0"/>
                </a:moveTo>
                <a:lnTo>
                  <a:pt x="15655429" y="0"/>
                </a:lnTo>
                <a:lnTo>
                  <a:pt x="15655429" y="1219196"/>
                </a:lnTo>
                <a:lnTo>
                  <a:pt x="0" y="12191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1112896" y="6189259"/>
            <a:ext cx="16044934" cy="1162988"/>
            <a:chOff x="0" y="0"/>
            <a:chExt cx="14262164" cy="1033767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4262227" cy="1033780"/>
            </a:xfrm>
            <a:custGeom>
              <a:avLst/>
              <a:gdLst/>
              <a:ahLst/>
              <a:cxnLst/>
              <a:rect r="r" b="b" t="t" l="l"/>
              <a:pathLst>
                <a:path h="1033780" w="14262227">
                  <a:moveTo>
                    <a:pt x="0" y="0"/>
                  </a:moveTo>
                  <a:lnTo>
                    <a:pt x="14262227" y="0"/>
                  </a:lnTo>
                  <a:lnTo>
                    <a:pt x="14262227" y="1033780"/>
                  </a:lnTo>
                  <a:lnTo>
                    <a:pt x="0" y="1033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1077635" y="6119508"/>
            <a:ext cx="16115443" cy="1233483"/>
          </a:xfrm>
          <a:custGeom>
            <a:avLst/>
            <a:gdLst/>
            <a:ahLst/>
            <a:cxnLst/>
            <a:rect r="r" b="b" t="t" l="l"/>
            <a:pathLst>
              <a:path h="1233483" w="16115443">
                <a:moveTo>
                  <a:pt x="0" y="0"/>
                </a:moveTo>
                <a:lnTo>
                  <a:pt x="16115442" y="0"/>
                </a:lnTo>
                <a:lnTo>
                  <a:pt x="16115442" y="1233482"/>
                </a:lnTo>
                <a:lnTo>
                  <a:pt x="0" y="1233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0" id="30"/>
          <p:cNvGrpSpPr/>
          <p:nvPr/>
        </p:nvGrpSpPr>
        <p:grpSpPr>
          <a:xfrm rot="0">
            <a:off x="1120040" y="6196403"/>
            <a:ext cx="215856" cy="1148701"/>
            <a:chOff x="0" y="0"/>
            <a:chExt cx="191872" cy="1021067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191897" cy="1021080"/>
            </a:xfrm>
            <a:custGeom>
              <a:avLst/>
              <a:gdLst/>
              <a:ahLst/>
              <a:cxnLst/>
              <a:rect r="r" b="b" t="t" l="l"/>
              <a:pathLst>
                <a:path h="1021080" w="191897">
                  <a:moveTo>
                    <a:pt x="0" y="0"/>
                  </a:moveTo>
                  <a:lnTo>
                    <a:pt x="191897" y="0"/>
                  </a:lnTo>
                  <a:lnTo>
                    <a:pt x="191897" y="1021080"/>
                  </a:lnTo>
                  <a:lnTo>
                    <a:pt x="0" y="1021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3" b="1"/>
              </a:stretch>
            </a:blipFill>
          </p:spPr>
        </p:sp>
      </p:grpSp>
      <p:sp>
        <p:nvSpPr>
          <p:cNvPr name="Freeform 32" id="32"/>
          <p:cNvSpPr/>
          <p:nvPr/>
        </p:nvSpPr>
        <p:spPr>
          <a:xfrm flipH="false" flipV="false" rot="0">
            <a:off x="1084778" y="6126651"/>
            <a:ext cx="15655428" cy="1219195"/>
          </a:xfrm>
          <a:custGeom>
            <a:avLst/>
            <a:gdLst/>
            <a:ahLst/>
            <a:cxnLst/>
            <a:rect r="r" b="b" t="t" l="l"/>
            <a:pathLst>
              <a:path h="1219195" w="15655428">
                <a:moveTo>
                  <a:pt x="0" y="0"/>
                </a:moveTo>
                <a:lnTo>
                  <a:pt x="15655429" y="0"/>
                </a:lnTo>
                <a:lnTo>
                  <a:pt x="15655429" y="1219196"/>
                </a:lnTo>
                <a:lnTo>
                  <a:pt x="0" y="1219196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3" id="33"/>
          <p:cNvGrpSpPr/>
          <p:nvPr/>
        </p:nvGrpSpPr>
        <p:grpSpPr>
          <a:xfrm rot="0">
            <a:off x="1112896" y="7368835"/>
            <a:ext cx="16044934" cy="1162988"/>
            <a:chOff x="0" y="0"/>
            <a:chExt cx="14262164" cy="1033767"/>
          </a:xfrm>
        </p:grpSpPr>
        <p:sp>
          <p:nvSpPr>
            <p:cNvPr name="Freeform 34" id="34"/>
            <p:cNvSpPr/>
            <p:nvPr/>
          </p:nvSpPr>
          <p:spPr>
            <a:xfrm flipH="false" flipV="false" rot="0">
              <a:off x="0" y="0"/>
              <a:ext cx="14262227" cy="1033780"/>
            </a:xfrm>
            <a:custGeom>
              <a:avLst/>
              <a:gdLst/>
              <a:ahLst/>
              <a:cxnLst/>
              <a:rect r="r" b="b" t="t" l="l"/>
              <a:pathLst>
                <a:path h="1033780" w="14262227">
                  <a:moveTo>
                    <a:pt x="0" y="0"/>
                  </a:moveTo>
                  <a:lnTo>
                    <a:pt x="14262227" y="0"/>
                  </a:lnTo>
                  <a:lnTo>
                    <a:pt x="14262227" y="1033780"/>
                  </a:lnTo>
                  <a:lnTo>
                    <a:pt x="0" y="10337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1"/>
              </a:stretch>
            </a:blipFill>
          </p:spPr>
        </p:sp>
      </p:grpSp>
      <p:sp>
        <p:nvSpPr>
          <p:cNvPr name="Freeform 35" id="35"/>
          <p:cNvSpPr/>
          <p:nvPr/>
        </p:nvSpPr>
        <p:spPr>
          <a:xfrm flipH="false" flipV="false" rot="0">
            <a:off x="1077635" y="7299084"/>
            <a:ext cx="16115443" cy="1233483"/>
          </a:xfrm>
          <a:custGeom>
            <a:avLst/>
            <a:gdLst/>
            <a:ahLst/>
            <a:cxnLst/>
            <a:rect r="r" b="b" t="t" l="l"/>
            <a:pathLst>
              <a:path h="1233483" w="16115443">
                <a:moveTo>
                  <a:pt x="0" y="0"/>
                </a:moveTo>
                <a:lnTo>
                  <a:pt x="16115442" y="0"/>
                </a:lnTo>
                <a:lnTo>
                  <a:pt x="16115442" y="1233482"/>
                </a:lnTo>
                <a:lnTo>
                  <a:pt x="0" y="123348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6" id="36"/>
          <p:cNvGrpSpPr/>
          <p:nvPr/>
        </p:nvGrpSpPr>
        <p:grpSpPr>
          <a:xfrm rot="0">
            <a:off x="1120040" y="7375979"/>
            <a:ext cx="215856" cy="1148701"/>
            <a:chOff x="0" y="0"/>
            <a:chExt cx="191872" cy="1021067"/>
          </a:xfrm>
        </p:grpSpPr>
        <p:sp>
          <p:nvSpPr>
            <p:cNvPr name="Freeform 37" id="37"/>
            <p:cNvSpPr/>
            <p:nvPr/>
          </p:nvSpPr>
          <p:spPr>
            <a:xfrm flipH="false" flipV="false" rot="0">
              <a:off x="0" y="0"/>
              <a:ext cx="191897" cy="1021080"/>
            </a:xfrm>
            <a:custGeom>
              <a:avLst/>
              <a:gdLst/>
              <a:ahLst/>
              <a:cxnLst/>
              <a:rect r="r" b="b" t="t" l="l"/>
              <a:pathLst>
                <a:path h="1021080" w="191897">
                  <a:moveTo>
                    <a:pt x="0" y="0"/>
                  </a:moveTo>
                  <a:lnTo>
                    <a:pt x="191897" y="0"/>
                  </a:lnTo>
                  <a:lnTo>
                    <a:pt x="191897" y="1021080"/>
                  </a:lnTo>
                  <a:lnTo>
                    <a:pt x="0" y="102108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13" b="1"/>
              </a:stretch>
            </a:blipFill>
          </p:spPr>
        </p:sp>
      </p:grpSp>
      <p:sp>
        <p:nvSpPr>
          <p:cNvPr name="Freeform 38" id="38"/>
          <p:cNvSpPr/>
          <p:nvPr/>
        </p:nvSpPr>
        <p:spPr>
          <a:xfrm flipH="false" flipV="false" rot="0">
            <a:off x="1084778" y="7304784"/>
            <a:ext cx="15655428" cy="1220638"/>
          </a:xfrm>
          <a:custGeom>
            <a:avLst/>
            <a:gdLst/>
            <a:ahLst/>
            <a:cxnLst/>
            <a:rect r="r" b="b" t="t" l="l"/>
            <a:pathLst>
              <a:path h="1220638" w="15655428">
                <a:moveTo>
                  <a:pt x="0" y="0"/>
                </a:moveTo>
                <a:lnTo>
                  <a:pt x="15655429" y="0"/>
                </a:lnTo>
                <a:lnTo>
                  <a:pt x="15655429" y="1220639"/>
                </a:lnTo>
                <a:lnTo>
                  <a:pt x="0" y="1220639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9" id="39"/>
          <p:cNvSpPr/>
          <p:nvPr/>
        </p:nvSpPr>
        <p:spPr>
          <a:xfrm flipH="false" flipV="false" rot="0">
            <a:off x="1111710" y="8447413"/>
            <a:ext cx="16115443" cy="1205136"/>
          </a:xfrm>
          <a:custGeom>
            <a:avLst/>
            <a:gdLst/>
            <a:ahLst/>
            <a:cxnLst/>
            <a:rect r="r" b="b" t="t" l="l"/>
            <a:pathLst>
              <a:path h="1205136" w="16115443">
                <a:moveTo>
                  <a:pt x="0" y="0"/>
                </a:moveTo>
                <a:lnTo>
                  <a:pt x="16115443" y="0"/>
                </a:lnTo>
                <a:lnTo>
                  <a:pt x="16115443" y="1205136"/>
                </a:lnTo>
                <a:lnTo>
                  <a:pt x="0" y="1205136"/>
                </a:lnTo>
                <a:lnTo>
                  <a:pt x="0" y="0"/>
                </a:lnTo>
                <a:close/>
              </a:path>
            </a:pathLst>
          </a:custGeom>
          <a:blipFill>
            <a:blip r:embed="rId15">
              <a:extLs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0" id="40"/>
          <p:cNvGrpSpPr/>
          <p:nvPr/>
        </p:nvGrpSpPr>
        <p:grpSpPr>
          <a:xfrm rot="0">
            <a:off x="1120054" y="8517165"/>
            <a:ext cx="16071837" cy="1134642"/>
            <a:chOff x="0" y="0"/>
            <a:chExt cx="14286078" cy="1008571"/>
          </a:xfrm>
        </p:grpSpPr>
        <p:sp>
          <p:nvSpPr>
            <p:cNvPr name="Freeform 41" id="41"/>
            <p:cNvSpPr/>
            <p:nvPr/>
          </p:nvSpPr>
          <p:spPr>
            <a:xfrm flipH="false" flipV="false" rot="0">
              <a:off x="0" y="0"/>
              <a:ext cx="14286103" cy="1008507"/>
            </a:xfrm>
            <a:custGeom>
              <a:avLst/>
              <a:gdLst/>
              <a:ahLst/>
              <a:cxnLst/>
              <a:rect r="r" b="b" t="t" l="l"/>
              <a:pathLst>
                <a:path h="1008507" w="14286103">
                  <a:moveTo>
                    <a:pt x="0" y="0"/>
                  </a:moveTo>
                  <a:lnTo>
                    <a:pt x="14286103" y="0"/>
                  </a:lnTo>
                  <a:lnTo>
                    <a:pt x="14286103" y="1008507"/>
                  </a:lnTo>
                  <a:lnTo>
                    <a:pt x="0" y="100850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7"/>
              <a:stretch>
                <a:fillRect l="0" t="0" r="0" b="-6"/>
              </a:stretch>
            </a:blipFill>
          </p:spPr>
        </p:sp>
      </p:grpSp>
      <p:sp>
        <p:nvSpPr>
          <p:cNvPr name="Freeform 42" id="42"/>
          <p:cNvSpPr/>
          <p:nvPr/>
        </p:nvSpPr>
        <p:spPr>
          <a:xfrm flipH="false" flipV="false" rot="0">
            <a:off x="879153" y="8454557"/>
            <a:ext cx="16512535" cy="1653364"/>
          </a:xfrm>
          <a:custGeom>
            <a:avLst/>
            <a:gdLst/>
            <a:ahLst/>
            <a:cxnLst/>
            <a:rect r="r" b="b" t="t" l="l"/>
            <a:pathLst>
              <a:path h="1653364" w="16512535">
                <a:moveTo>
                  <a:pt x="0" y="0"/>
                </a:moveTo>
                <a:lnTo>
                  <a:pt x="16512535" y="0"/>
                </a:lnTo>
                <a:lnTo>
                  <a:pt x="16512535" y="1653363"/>
                </a:lnTo>
                <a:lnTo>
                  <a:pt x="0" y="1653363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3" id="43"/>
          <p:cNvSpPr txBox="true"/>
          <p:nvPr/>
        </p:nvSpPr>
        <p:spPr>
          <a:xfrm rot="0">
            <a:off x="1102995" y="232129"/>
            <a:ext cx="4134717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Stack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322590" y="965021"/>
            <a:ext cx="61479" cy="39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1102981" y="965021"/>
            <a:ext cx="6307574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Technologies used to build the AI-powered SOC simulator.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480299" y="6215201"/>
            <a:ext cx="5102275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API</a:t>
            </a:r>
          </a:p>
          <a:p>
            <a:pPr algn="l">
              <a:lnSpc>
                <a:spcPts val="2835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thropic API — AI threat analysis &amp; SOC triage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480299" y="7379160"/>
            <a:ext cx="3390995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Clients</a:t>
            </a:r>
          </a:p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Cybersecurity enthusiast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480299" y="2676458"/>
            <a:ext cx="6221557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Backend</a:t>
            </a:r>
          </a:p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Pyth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on 3 — Core SOC simulator &amp; processing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480299" y="1544874"/>
            <a:ext cx="7093843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699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Frontend</a:t>
            </a:r>
          </a:p>
          <a:p>
            <a:pPr algn="l">
              <a:lnSpc>
                <a:spcPts val="2834"/>
              </a:lnSpc>
            </a:pPr>
            <a:r>
              <a:rPr lang="en-US" sz="2024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HTML</a:t>
            </a:r>
            <a:r>
              <a:rPr lang="en-US" sz="2024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/ CSS / JavaScript — CONTROL_CENTER.html web interface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480314" y="3856034"/>
            <a:ext cx="5646134" cy="8734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Database</a:t>
            </a:r>
          </a:p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SQLite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— Stores security events, alerts &amp; results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1480299" y="5024866"/>
            <a:ext cx="5646149" cy="87344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Languages</a:t>
            </a:r>
          </a:p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Python/Mysql/LINUX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404490" y="8528933"/>
            <a:ext cx="2475845" cy="5076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Data &amp; Reporting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80314" y="9139080"/>
            <a:ext cx="4409037" cy="353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Arial"/>
                <a:ea typeface="Arial"/>
                <a:cs typeface="Arial"/>
                <a:sym typeface="Arial"/>
              </a:rPr>
              <a:t>AI outputs &amp; forensic reports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1102995" y="9692678"/>
            <a:ext cx="2572293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8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974408" y="617220"/>
            <a:ext cx="16322040" cy="960120"/>
          </a:xfrm>
          <a:custGeom>
            <a:avLst/>
            <a:gdLst/>
            <a:ahLst/>
            <a:cxnLst/>
            <a:rect r="r" b="b" t="t" l="l"/>
            <a:pathLst>
              <a:path h="960120" w="16322040">
                <a:moveTo>
                  <a:pt x="0" y="0"/>
                </a:moveTo>
                <a:lnTo>
                  <a:pt x="16322040" y="0"/>
                </a:lnTo>
                <a:lnTo>
                  <a:pt x="16322040" y="960120"/>
                </a:lnTo>
                <a:lnTo>
                  <a:pt x="0" y="9601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44431" y="2093333"/>
            <a:ext cx="5277788" cy="5003468"/>
            <a:chOff x="0" y="0"/>
            <a:chExt cx="4691367" cy="444752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691380" cy="4447540"/>
            </a:xfrm>
            <a:custGeom>
              <a:avLst/>
              <a:gdLst/>
              <a:ahLst/>
              <a:cxnLst/>
              <a:rect r="r" b="b" t="t" l="l"/>
              <a:pathLst>
                <a:path h="4447540" w="4691380">
                  <a:moveTo>
                    <a:pt x="0" y="0"/>
                  </a:moveTo>
                  <a:lnTo>
                    <a:pt x="4691380" y="0"/>
                  </a:lnTo>
                  <a:lnTo>
                    <a:pt x="4691380" y="4447540"/>
                  </a:lnTo>
                  <a:lnTo>
                    <a:pt x="0" y="4447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009169" y="2023581"/>
            <a:ext cx="5348283" cy="5073963"/>
          </a:xfrm>
          <a:custGeom>
            <a:avLst/>
            <a:gdLst/>
            <a:ahLst/>
            <a:cxnLst/>
            <a:rect r="r" b="b" t="t" l="l"/>
            <a:pathLst>
              <a:path h="5073963" w="5348283">
                <a:moveTo>
                  <a:pt x="0" y="0"/>
                </a:moveTo>
                <a:lnTo>
                  <a:pt x="5348283" y="0"/>
                </a:lnTo>
                <a:lnTo>
                  <a:pt x="5348283" y="5073963"/>
                </a:lnTo>
                <a:lnTo>
                  <a:pt x="0" y="50739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051574" y="2100477"/>
            <a:ext cx="216013" cy="4989181"/>
            <a:chOff x="0" y="0"/>
            <a:chExt cx="192011" cy="443482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" cy="4434840"/>
            </a:xfrm>
            <a:custGeom>
              <a:avLst/>
              <a:gdLst/>
              <a:ahLst/>
              <a:cxnLst/>
              <a:rect r="r" b="b" t="t" l="l"/>
              <a:pathLst>
                <a:path h="443484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4434840"/>
                  </a:lnTo>
                  <a:lnTo>
                    <a:pt x="0" y="4434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111568" y="2125980"/>
            <a:ext cx="96012" cy="4869180"/>
          </a:xfrm>
          <a:custGeom>
            <a:avLst/>
            <a:gdLst/>
            <a:ahLst/>
            <a:cxnLst/>
            <a:rect r="r" b="b" t="t" l="l"/>
            <a:pathLst>
              <a:path h="4869180" w="96012">
                <a:moveTo>
                  <a:pt x="0" y="0"/>
                </a:moveTo>
                <a:lnTo>
                  <a:pt x="96012" y="0"/>
                </a:lnTo>
                <a:lnTo>
                  <a:pt x="96012" y="4869180"/>
                </a:lnTo>
                <a:lnTo>
                  <a:pt x="0" y="48691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54467" y="2372868"/>
            <a:ext cx="4526280" cy="4457700"/>
          </a:xfrm>
          <a:custGeom>
            <a:avLst/>
            <a:gdLst/>
            <a:ahLst/>
            <a:cxnLst/>
            <a:rect r="r" b="b" t="t" l="l"/>
            <a:pathLst>
              <a:path h="4457700" w="4526280">
                <a:moveTo>
                  <a:pt x="0" y="0"/>
                </a:moveTo>
                <a:lnTo>
                  <a:pt x="4526280" y="0"/>
                </a:lnTo>
                <a:lnTo>
                  <a:pt x="4526280" y="4457700"/>
                </a:lnTo>
                <a:lnTo>
                  <a:pt x="0" y="445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6530831" y="2093333"/>
            <a:ext cx="5277788" cy="5003468"/>
            <a:chOff x="0" y="0"/>
            <a:chExt cx="4691367" cy="444752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691380" cy="4447540"/>
            </a:xfrm>
            <a:custGeom>
              <a:avLst/>
              <a:gdLst/>
              <a:ahLst/>
              <a:cxnLst/>
              <a:rect r="r" b="b" t="t" l="l"/>
              <a:pathLst>
                <a:path h="4447540" w="4691380">
                  <a:moveTo>
                    <a:pt x="0" y="0"/>
                  </a:moveTo>
                  <a:lnTo>
                    <a:pt x="4691380" y="0"/>
                  </a:lnTo>
                  <a:lnTo>
                    <a:pt x="4691380" y="4447540"/>
                  </a:lnTo>
                  <a:lnTo>
                    <a:pt x="0" y="4447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6495569" y="2023581"/>
            <a:ext cx="5348283" cy="5073963"/>
          </a:xfrm>
          <a:custGeom>
            <a:avLst/>
            <a:gdLst/>
            <a:ahLst/>
            <a:cxnLst/>
            <a:rect r="r" b="b" t="t" l="l"/>
            <a:pathLst>
              <a:path h="5073963" w="5348283">
                <a:moveTo>
                  <a:pt x="0" y="0"/>
                </a:moveTo>
                <a:lnTo>
                  <a:pt x="5348283" y="0"/>
                </a:lnTo>
                <a:lnTo>
                  <a:pt x="5348283" y="5073963"/>
                </a:lnTo>
                <a:lnTo>
                  <a:pt x="0" y="50739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6537974" y="2100477"/>
            <a:ext cx="216013" cy="4989181"/>
            <a:chOff x="0" y="0"/>
            <a:chExt cx="192011" cy="443482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" cy="4434840"/>
            </a:xfrm>
            <a:custGeom>
              <a:avLst/>
              <a:gdLst/>
              <a:ahLst/>
              <a:cxnLst/>
              <a:rect r="r" b="b" t="t" l="l"/>
              <a:pathLst>
                <a:path h="443484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4434840"/>
                  </a:lnTo>
                  <a:lnTo>
                    <a:pt x="0" y="4434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6597968" y="2125980"/>
            <a:ext cx="96012" cy="4869180"/>
          </a:xfrm>
          <a:custGeom>
            <a:avLst/>
            <a:gdLst/>
            <a:ahLst/>
            <a:cxnLst/>
            <a:rect r="r" b="b" t="t" l="l"/>
            <a:pathLst>
              <a:path h="4869180" w="96012">
                <a:moveTo>
                  <a:pt x="0" y="0"/>
                </a:moveTo>
                <a:lnTo>
                  <a:pt x="96012" y="0"/>
                </a:lnTo>
                <a:lnTo>
                  <a:pt x="96012" y="4869180"/>
                </a:lnTo>
                <a:lnTo>
                  <a:pt x="0" y="48691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6940868" y="2372868"/>
            <a:ext cx="4526280" cy="4457700"/>
          </a:xfrm>
          <a:custGeom>
            <a:avLst/>
            <a:gdLst/>
            <a:ahLst/>
            <a:cxnLst/>
            <a:rect r="r" b="b" t="t" l="l"/>
            <a:pathLst>
              <a:path h="4457700" w="4526280">
                <a:moveTo>
                  <a:pt x="0" y="0"/>
                </a:moveTo>
                <a:lnTo>
                  <a:pt x="4526280" y="0"/>
                </a:lnTo>
                <a:lnTo>
                  <a:pt x="4526280" y="4457700"/>
                </a:lnTo>
                <a:lnTo>
                  <a:pt x="0" y="445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2017231" y="2093333"/>
            <a:ext cx="5277788" cy="5003468"/>
            <a:chOff x="0" y="0"/>
            <a:chExt cx="4691367" cy="44475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4691380" cy="4447540"/>
            </a:xfrm>
            <a:custGeom>
              <a:avLst/>
              <a:gdLst/>
              <a:ahLst/>
              <a:cxnLst/>
              <a:rect r="r" b="b" t="t" l="l"/>
              <a:pathLst>
                <a:path h="4447540" w="4691380">
                  <a:moveTo>
                    <a:pt x="0" y="0"/>
                  </a:moveTo>
                  <a:lnTo>
                    <a:pt x="4691380" y="0"/>
                  </a:lnTo>
                  <a:lnTo>
                    <a:pt x="4691380" y="4447540"/>
                  </a:lnTo>
                  <a:lnTo>
                    <a:pt x="0" y="44475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1981969" y="2023581"/>
            <a:ext cx="5348283" cy="5073963"/>
          </a:xfrm>
          <a:custGeom>
            <a:avLst/>
            <a:gdLst/>
            <a:ahLst/>
            <a:cxnLst/>
            <a:rect r="r" b="b" t="t" l="l"/>
            <a:pathLst>
              <a:path h="5073963" w="5348283">
                <a:moveTo>
                  <a:pt x="0" y="0"/>
                </a:moveTo>
                <a:lnTo>
                  <a:pt x="5348283" y="0"/>
                </a:lnTo>
                <a:lnTo>
                  <a:pt x="5348283" y="5073963"/>
                </a:lnTo>
                <a:lnTo>
                  <a:pt x="0" y="507396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12024374" y="2100477"/>
            <a:ext cx="216013" cy="4989181"/>
            <a:chOff x="0" y="0"/>
            <a:chExt cx="192011" cy="4434827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92024" cy="4434840"/>
            </a:xfrm>
            <a:custGeom>
              <a:avLst/>
              <a:gdLst/>
              <a:ahLst/>
              <a:cxnLst/>
              <a:rect r="r" b="b" t="t" l="l"/>
              <a:pathLst>
                <a:path h="443484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4434840"/>
                  </a:lnTo>
                  <a:lnTo>
                    <a:pt x="0" y="44348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12084368" y="2125980"/>
            <a:ext cx="96012" cy="4869180"/>
          </a:xfrm>
          <a:custGeom>
            <a:avLst/>
            <a:gdLst/>
            <a:ahLst/>
            <a:cxnLst/>
            <a:rect r="r" b="b" t="t" l="l"/>
            <a:pathLst>
              <a:path h="4869180" w="96012">
                <a:moveTo>
                  <a:pt x="0" y="0"/>
                </a:moveTo>
                <a:lnTo>
                  <a:pt x="96012" y="0"/>
                </a:lnTo>
                <a:lnTo>
                  <a:pt x="96012" y="4869180"/>
                </a:lnTo>
                <a:lnTo>
                  <a:pt x="0" y="486918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2427268" y="2372868"/>
            <a:ext cx="4526280" cy="4457700"/>
          </a:xfrm>
          <a:custGeom>
            <a:avLst/>
            <a:gdLst/>
            <a:ahLst/>
            <a:cxnLst/>
            <a:rect r="r" b="b" t="t" l="l"/>
            <a:pathLst>
              <a:path h="4457700" w="4526280">
                <a:moveTo>
                  <a:pt x="0" y="0"/>
                </a:moveTo>
                <a:lnTo>
                  <a:pt x="4526280" y="0"/>
                </a:lnTo>
                <a:lnTo>
                  <a:pt x="4526280" y="4457700"/>
                </a:lnTo>
                <a:lnTo>
                  <a:pt x="0" y="44577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4" id="24"/>
          <p:cNvGrpSpPr/>
          <p:nvPr/>
        </p:nvGrpSpPr>
        <p:grpSpPr>
          <a:xfrm rot="0">
            <a:off x="2964656" y="7442559"/>
            <a:ext cx="12341442" cy="1856432"/>
            <a:chOff x="0" y="0"/>
            <a:chExt cx="10970171" cy="1650162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10970133" cy="1650111"/>
            </a:xfrm>
            <a:custGeom>
              <a:avLst/>
              <a:gdLst/>
              <a:ahLst/>
              <a:cxnLst/>
              <a:rect r="r" b="b" t="t" l="l"/>
              <a:pathLst>
                <a:path h="1650111" w="10970133">
                  <a:moveTo>
                    <a:pt x="0" y="0"/>
                  </a:moveTo>
                  <a:lnTo>
                    <a:pt x="10970133" y="0"/>
                  </a:lnTo>
                  <a:lnTo>
                    <a:pt x="10970133" y="1650111"/>
                  </a:lnTo>
                  <a:lnTo>
                    <a:pt x="0" y="16501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-3"/>
              </a:stretch>
            </a:blipFill>
          </p:spPr>
        </p:sp>
      </p:grpSp>
      <p:sp>
        <p:nvSpPr>
          <p:cNvPr name="Freeform 26" id="26"/>
          <p:cNvSpPr/>
          <p:nvPr/>
        </p:nvSpPr>
        <p:spPr>
          <a:xfrm flipH="false" flipV="false" rot="0">
            <a:off x="2929409" y="7372821"/>
            <a:ext cx="12411937" cy="1926941"/>
          </a:xfrm>
          <a:custGeom>
            <a:avLst/>
            <a:gdLst/>
            <a:ahLst/>
            <a:cxnLst/>
            <a:rect r="r" b="b" t="t" l="l"/>
            <a:pathLst>
              <a:path h="1926941" w="12411937">
                <a:moveTo>
                  <a:pt x="0" y="0"/>
                </a:moveTo>
                <a:lnTo>
                  <a:pt x="12411937" y="0"/>
                </a:lnTo>
                <a:lnTo>
                  <a:pt x="12411937" y="1926941"/>
                </a:lnTo>
                <a:lnTo>
                  <a:pt x="0" y="1926941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7" id="27"/>
          <p:cNvGrpSpPr/>
          <p:nvPr/>
        </p:nvGrpSpPr>
        <p:grpSpPr>
          <a:xfrm rot="0">
            <a:off x="2971800" y="7449703"/>
            <a:ext cx="215856" cy="1842145"/>
            <a:chOff x="0" y="0"/>
            <a:chExt cx="191872" cy="1637462"/>
          </a:xfrm>
        </p:grpSpPr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191897" cy="1637411"/>
            </a:xfrm>
            <a:custGeom>
              <a:avLst/>
              <a:gdLst/>
              <a:ahLst/>
              <a:cxnLst/>
              <a:rect r="r" b="b" t="t" l="l"/>
              <a:pathLst>
                <a:path h="1637411" w="191897">
                  <a:moveTo>
                    <a:pt x="0" y="0"/>
                  </a:moveTo>
                  <a:lnTo>
                    <a:pt x="191897" y="0"/>
                  </a:lnTo>
                  <a:lnTo>
                    <a:pt x="191897" y="1637411"/>
                  </a:lnTo>
                  <a:lnTo>
                    <a:pt x="0" y="163741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13" b="-3"/>
              </a:stretch>
            </a:blipFill>
          </p:spPr>
        </p:sp>
      </p:grpSp>
      <p:sp>
        <p:nvSpPr>
          <p:cNvPr name="Freeform 29" id="29"/>
          <p:cNvSpPr/>
          <p:nvPr/>
        </p:nvSpPr>
        <p:spPr>
          <a:xfrm flipH="false" flipV="false" rot="0">
            <a:off x="3031793" y="7475206"/>
            <a:ext cx="95855" cy="1722144"/>
          </a:xfrm>
          <a:custGeom>
            <a:avLst/>
            <a:gdLst/>
            <a:ahLst/>
            <a:cxnLst/>
            <a:rect r="r" b="b" t="t" l="l"/>
            <a:pathLst>
              <a:path h="1722144" w="95855">
                <a:moveTo>
                  <a:pt x="0" y="0"/>
                </a:moveTo>
                <a:lnTo>
                  <a:pt x="95855" y="0"/>
                </a:lnTo>
                <a:lnTo>
                  <a:pt x="95855" y="1722144"/>
                </a:lnTo>
                <a:lnTo>
                  <a:pt x="0" y="1722144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3340275" y="7594063"/>
            <a:ext cx="11590206" cy="1312207"/>
          </a:xfrm>
          <a:custGeom>
            <a:avLst/>
            <a:gdLst/>
            <a:ahLst/>
            <a:cxnLst/>
            <a:rect r="r" b="b" t="t" l="l"/>
            <a:pathLst>
              <a:path h="1312207" w="11590206">
                <a:moveTo>
                  <a:pt x="0" y="0"/>
                </a:moveTo>
                <a:lnTo>
                  <a:pt x="11590205" y="0"/>
                </a:lnTo>
                <a:lnTo>
                  <a:pt x="11590205" y="1312207"/>
                </a:lnTo>
                <a:lnTo>
                  <a:pt x="0" y="1312207"/>
                </a:lnTo>
                <a:lnTo>
                  <a:pt x="0" y="0"/>
                </a:lnTo>
                <a:close/>
              </a:path>
            </a:pathLst>
          </a:custGeom>
          <a:blipFill>
            <a:blip r:embed="rId21">
              <a:extLst>
                <a:ext uri="{96DAC541-7B7A-43D3-8B79-37D633B846F1}">
                  <asvg:svgBlip xmlns:asvg="http://schemas.microsoft.com/office/drawing/2016/SVG/main" r:embed="rId2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2" id="32"/>
          <p:cNvSpPr txBox="true"/>
          <p:nvPr/>
        </p:nvSpPr>
        <p:spPr>
          <a:xfrm rot="0">
            <a:off x="1102995" y="547497"/>
            <a:ext cx="7713335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Feasibility, Limitations &amp; Impact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635762" y="2567699"/>
            <a:ext cx="4079053" cy="3819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Feasibility</a:t>
            </a:r>
          </a:p>
          <a:p>
            <a:pPr algn="l" marL="437197" indent="-218599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Py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thon-based modular architecture</a:t>
            </a:r>
          </a:p>
          <a:p>
            <a:pPr algn="l" marL="437197" indent="-218599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Synthetic attacks make testing safe</a:t>
            </a:r>
          </a:p>
          <a:p>
            <a:pPr algn="l" marL="437197" indent="-218599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AI analysis is integrated through an API</a:t>
            </a:r>
          </a:p>
          <a:p>
            <a:pPr algn="l" marL="437197" indent="-218599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Automated response can run in simulated mode</a:t>
            </a:r>
          </a:p>
          <a:p>
            <a:pPr algn="l" marL="437197" indent="-218599" lvl="1">
              <a:lnSpc>
                <a:spcPts val="2430"/>
              </a:lnSpc>
              <a:buFont typeface="Arial"/>
              <a:buChar char="•"/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Web dashboard provides live monitoring</a:t>
            </a:r>
          </a:p>
          <a:p>
            <a:pPr algn="l">
              <a:lnSpc>
                <a:spcPts val="2430"/>
              </a:lnSpc>
            </a:pPr>
          </a:p>
        </p:txBody>
      </p:sp>
      <p:sp>
        <p:nvSpPr>
          <p:cNvPr name="TextBox 34" id="34"/>
          <p:cNvSpPr txBox="true"/>
          <p:nvPr/>
        </p:nvSpPr>
        <p:spPr>
          <a:xfrm rot="0">
            <a:off x="3468862" y="7620810"/>
            <a:ext cx="10477267" cy="1057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Core value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Tur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n simulated security events into intelligent threat decisions, safe responses, and clear SOC insights.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7069455" y="2399614"/>
            <a:ext cx="3958380" cy="1657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Limitations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• Currently uses synthetic logs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• Single-machine implementation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• No authentication on the dashboard.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555855" y="2399614"/>
            <a:ext cx="3775815" cy="2857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Potential impact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• Helps students learn SOC workflows.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• Demonstrates AI-assisted threat triage.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• Provides hands-on cybersecurity practice</a:t>
            </a:r>
          </a:p>
          <a:p>
            <a:pPr algn="l">
              <a:lnSpc>
                <a:spcPts val="2430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• Useful for security education and demonstrations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102995" y="9692678"/>
            <a:ext cx="2572293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9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79153" y="521965"/>
            <a:ext cx="16512535" cy="1726687"/>
          </a:xfrm>
          <a:custGeom>
            <a:avLst/>
            <a:gdLst/>
            <a:ahLst/>
            <a:cxnLst/>
            <a:rect r="r" b="b" t="t" l="l"/>
            <a:pathLst>
              <a:path h="1726687" w="16512535">
                <a:moveTo>
                  <a:pt x="0" y="0"/>
                </a:moveTo>
                <a:lnTo>
                  <a:pt x="16512535" y="0"/>
                </a:lnTo>
                <a:lnTo>
                  <a:pt x="16512535" y="1726687"/>
                </a:lnTo>
                <a:lnTo>
                  <a:pt x="0" y="172668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181591" y="2161913"/>
            <a:ext cx="7403768" cy="3083228"/>
            <a:chOff x="0" y="0"/>
            <a:chExt cx="6581127" cy="2740647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581140" cy="2740660"/>
            </a:xfrm>
            <a:custGeom>
              <a:avLst/>
              <a:gdLst/>
              <a:ahLst/>
              <a:cxnLst/>
              <a:rect r="r" b="b" t="t" l="l"/>
              <a:pathLst>
                <a:path h="2740660" w="6581140">
                  <a:moveTo>
                    <a:pt x="0" y="0"/>
                  </a:moveTo>
                  <a:lnTo>
                    <a:pt x="6581140" y="0"/>
                  </a:lnTo>
                  <a:lnTo>
                    <a:pt x="6581140" y="2740660"/>
                  </a:lnTo>
                  <a:lnTo>
                    <a:pt x="0" y="274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1146329" y="2092161"/>
            <a:ext cx="7474263" cy="3153723"/>
          </a:xfrm>
          <a:custGeom>
            <a:avLst/>
            <a:gdLst/>
            <a:ahLst/>
            <a:cxnLst/>
            <a:rect r="r" b="b" t="t" l="l"/>
            <a:pathLst>
              <a:path h="3153723" w="7474263">
                <a:moveTo>
                  <a:pt x="0" y="0"/>
                </a:moveTo>
                <a:lnTo>
                  <a:pt x="7474263" y="0"/>
                </a:lnTo>
                <a:lnTo>
                  <a:pt x="7474263" y="3153723"/>
                </a:lnTo>
                <a:lnTo>
                  <a:pt x="0" y="31537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1188734" y="2169057"/>
            <a:ext cx="216013" cy="3068941"/>
            <a:chOff x="0" y="0"/>
            <a:chExt cx="192011" cy="27279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192024" cy="2727960"/>
            </a:xfrm>
            <a:custGeom>
              <a:avLst/>
              <a:gdLst/>
              <a:ahLst/>
              <a:cxnLst/>
              <a:rect r="r" b="b" t="t" l="l"/>
              <a:pathLst>
                <a:path h="27279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727960"/>
                  </a:lnTo>
                  <a:lnTo>
                    <a:pt x="0" y="272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1248728" y="2194560"/>
            <a:ext cx="96012" cy="2948940"/>
          </a:xfrm>
          <a:custGeom>
            <a:avLst/>
            <a:gdLst/>
            <a:ahLst/>
            <a:cxnLst/>
            <a:rect r="r" b="b" t="t" l="l"/>
            <a:pathLst>
              <a:path h="2948940" w="96012">
                <a:moveTo>
                  <a:pt x="0" y="0"/>
                </a:moveTo>
                <a:lnTo>
                  <a:pt x="96012" y="0"/>
                </a:lnTo>
                <a:lnTo>
                  <a:pt x="96012" y="2948940"/>
                </a:lnTo>
                <a:lnTo>
                  <a:pt x="0" y="29489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591628" y="2441448"/>
            <a:ext cx="6652260" cy="2537460"/>
          </a:xfrm>
          <a:custGeom>
            <a:avLst/>
            <a:gdLst/>
            <a:ahLst/>
            <a:cxnLst/>
            <a:rect r="r" b="b" t="t" l="l"/>
            <a:pathLst>
              <a:path h="2537460" w="6652260">
                <a:moveTo>
                  <a:pt x="0" y="0"/>
                </a:moveTo>
                <a:lnTo>
                  <a:pt x="6652260" y="0"/>
                </a:lnTo>
                <a:lnTo>
                  <a:pt x="6652260" y="2537460"/>
                </a:lnTo>
                <a:lnTo>
                  <a:pt x="0" y="2537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0" id="10"/>
          <p:cNvGrpSpPr/>
          <p:nvPr/>
        </p:nvGrpSpPr>
        <p:grpSpPr>
          <a:xfrm rot="0">
            <a:off x="9685511" y="2161913"/>
            <a:ext cx="7403768" cy="3083228"/>
            <a:chOff x="0" y="0"/>
            <a:chExt cx="6581127" cy="27406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581140" cy="2740660"/>
            </a:xfrm>
            <a:custGeom>
              <a:avLst/>
              <a:gdLst/>
              <a:ahLst/>
              <a:cxnLst/>
              <a:rect r="r" b="b" t="t" l="l"/>
              <a:pathLst>
                <a:path h="2740660" w="6581140">
                  <a:moveTo>
                    <a:pt x="0" y="0"/>
                  </a:moveTo>
                  <a:lnTo>
                    <a:pt x="6581140" y="0"/>
                  </a:lnTo>
                  <a:lnTo>
                    <a:pt x="6581140" y="2740660"/>
                  </a:lnTo>
                  <a:lnTo>
                    <a:pt x="0" y="27406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sp>
        <p:nvSpPr>
          <p:cNvPr name="Freeform 12" id="12"/>
          <p:cNvSpPr/>
          <p:nvPr/>
        </p:nvSpPr>
        <p:spPr>
          <a:xfrm flipH="false" flipV="false" rot="0">
            <a:off x="9650249" y="2092161"/>
            <a:ext cx="7474263" cy="3153723"/>
          </a:xfrm>
          <a:custGeom>
            <a:avLst/>
            <a:gdLst/>
            <a:ahLst/>
            <a:cxnLst/>
            <a:rect r="r" b="b" t="t" l="l"/>
            <a:pathLst>
              <a:path h="3153723" w="7474263">
                <a:moveTo>
                  <a:pt x="0" y="0"/>
                </a:moveTo>
                <a:lnTo>
                  <a:pt x="7474263" y="0"/>
                </a:lnTo>
                <a:lnTo>
                  <a:pt x="7474263" y="3153723"/>
                </a:lnTo>
                <a:lnTo>
                  <a:pt x="0" y="315372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9692654" y="2169057"/>
            <a:ext cx="216013" cy="3068941"/>
            <a:chOff x="0" y="0"/>
            <a:chExt cx="192011" cy="2727947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192024" cy="2727960"/>
            </a:xfrm>
            <a:custGeom>
              <a:avLst/>
              <a:gdLst/>
              <a:ahLst/>
              <a:cxnLst/>
              <a:rect r="r" b="b" t="t" l="l"/>
              <a:pathLst>
                <a:path h="2727960" w="192024">
                  <a:moveTo>
                    <a:pt x="0" y="0"/>
                  </a:moveTo>
                  <a:lnTo>
                    <a:pt x="192024" y="0"/>
                  </a:lnTo>
                  <a:lnTo>
                    <a:pt x="192024" y="2727960"/>
                  </a:lnTo>
                  <a:lnTo>
                    <a:pt x="0" y="27279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 l="0" t="0" r="6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0">
            <a:off x="9752648" y="2194560"/>
            <a:ext cx="96012" cy="2948940"/>
          </a:xfrm>
          <a:custGeom>
            <a:avLst/>
            <a:gdLst/>
            <a:ahLst/>
            <a:cxnLst/>
            <a:rect r="r" b="b" t="t" l="l"/>
            <a:pathLst>
              <a:path h="2948940" w="96012">
                <a:moveTo>
                  <a:pt x="0" y="0"/>
                </a:moveTo>
                <a:lnTo>
                  <a:pt x="96012" y="0"/>
                </a:lnTo>
                <a:lnTo>
                  <a:pt x="96012" y="2948940"/>
                </a:lnTo>
                <a:lnTo>
                  <a:pt x="0" y="294894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0095548" y="2441448"/>
            <a:ext cx="6652260" cy="2537460"/>
          </a:xfrm>
          <a:custGeom>
            <a:avLst/>
            <a:gdLst/>
            <a:ahLst/>
            <a:cxnLst/>
            <a:rect r="r" b="b" t="t" l="l"/>
            <a:pathLst>
              <a:path h="2537460" w="6652260">
                <a:moveTo>
                  <a:pt x="0" y="0"/>
                </a:moveTo>
                <a:lnTo>
                  <a:pt x="6652260" y="0"/>
                </a:lnTo>
                <a:lnTo>
                  <a:pt x="6652260" y="2537460"/>
                </a:lnTo>
                <a:lnTo>
                  <a:pt x="0" y="253746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7" id="17"/>
          <p:cNvGrpSpPr/>
          <p:nvPr/>
        </p:nvGrpSpPr>
        <p:grpSpPr>
          <a:xfrm rot="0">
            <a:off x="1044431" y="6208133"/>
            <a:ext cx="2557448" cy="1231568"/>
            <a:chOff x="0" y="0"/>
            <a:chExt cx="2273287" cy="1094727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273300" cy="1094740"/>
            </a:xfrm>
            <a:custGeom>
              <a:avLst/>
              <a:gdLst/>
              <a:ahLst/>
              <a:cxnLst/>
              <a:rect r="r" b="b" t="t" l="l"/>
              <a:pathLst>
                <a:path h="1094740" w="2273300">
                  <a:moveTo>
                    <a:pt x="0" y="0"/>
                  </a:moveTo>
                  <a:lnTo>
                    <a:pt x="2273300" y="0"/>
                  </a:lnTo>
                  <a:lnTo>
                    <a:pt x="2273300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sp>
        <p:nvSpPr>
          <p:cNvPr name="Freeform 19" id="19"/>
          <p:cNvSpPr/>
          <p:nvPr/>
        </p:nvSpPr>
        <p:spPr>
          <a:xfrm flipH="false" flipV="false" rot="0">
            <a:off x="1009169" y="6138381"/>
            <a:ext cx="2627943" cy="1302063"/>
          </a:xfrm>
          <a:custGeom>
            <a:avLst/>
            <a:gdLst/>
            <a:ahLst/>
            <a:cxnLst/>
            <a:rect r="r" b="b" t="t" l="l"/>
            <a:pathLst>
              <a:path h="1302063" w="2627943">
                <a:moveTo>
                  <a:pt x="0" y="0"/>
                </a:moveTo>
                <a:lnTo>
                  <a:pt x="2627943" y="0"/>
                </a:lnTo>
                <a:lnTo>
                  <a:pt x="2627943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0" id="20"/>
          <p:cNvGrpSpPr/>
          <p:nvPr/>
        </p:nvGrpSpPr>
        <p:grpSpPr>
          <a:xfrm rot="0">
            <a:off x="3529598" y="6517029"/>
            <a:ext cx="298309" cy="613777"/>
            <a:chOff x="0" y="0"/>
            <a:chExt cx="265163" cy="54557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4" b="2"/>
              </a:stretch>
            </a:blipFill>
          </p:spPr>
        </p:sp>
      </p:grpSp>
      <p:sp>
        <p:nvSpPr>
          <p:cNvPr name="Freeform 22" id="22"/>
          <p:cNvSpPr/>
          <p:nvPr/>
        </p:nvSpPr>
        <p:spPr>
          <a:xfrm flipH="false" flipV="false" rot="0">
            <a:off x="3589592" y="654253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3" id="23"/>
          <p:cNvGrpSpPr/>
          <p:nvPr/>
        </p:nvGrpSpPr>
        <p:grpSpPr>
          <a:xfrm rot="0">
            <a:off x="3769343" y="6208133"/>
            <a:ext cx="2557448" cy="1231568"/>
            <a:chOff x="0" y="0"/>
            <a:chExt cx="2273287" cy="1094727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273300" cy="1094740"/>
            </a:xfrm>
            <a:custGeom>
              <a:avLst/>
              <a:gdLst/>
              <a:ahLst/>
              <a:cxnLst/>
              <a:rect r="r" b="b" t="t" l="l"/>
              <a:pathLst>
                <a:path h="1094740" w="2273300">
                  <a:moveTo>
                    <a:pt x="0" y="0"/>
                  </a:moveTo>
                  <a:lnTo>
                    <a:pt x="2273300" y="0"/>
                  </a:lnTo>
                  <a:lnTo>
                    <a:pt x="2273300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sp>
        <p:nvSpPr>
          <p:cNvPr name="Freeform 25" id="25"/>
          <p:cNvSpPr/>
          <p:nvPr/>
        </p:nvSpPr>
        <p:spPr>
          <a:xfrm flipH="false" flipV="false" rot="0">
            <a:off x="3734081" y="6138381"/>
            <a:ext cx="2627943" cy="1302063"/>
          </a:xfrm>
          <a:custGeom>
            <a:avLst/>
            <a:gdLst/>
            <a:ahLst/>
            <a:cxnLst/>
            <a:rect r="r" b="b" t="t" l="l"/>
            <a:pathLst>
              <a:path h="1302063" w="2627943">
                <a:moveTo>
                  <a:pt x="0" y="0"/>
                </a:moveTo>
                <a:lnTo>
                  <a:pt x="2627943" y="0"/>
                </a:lnTo>
                <a:lnTo>
                  <a:pt x="2627943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6254510" y="6517029"/>
            <a:ext cx="298309" cy="613777"/>
            <a:chOff x="0" y="0"/>
            <a:chExt cx="265163" cy="545579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4" b="2"/>
              </a:stretch>
            </a:blipFill>
          </p:spPr>
        </p:sp>
      </p:grpSp>
      <p:sp>
        <p:nvSpPr>
          <p:cNvPr name="Freeform 28" id="28"/>
          <p:cNvSpPr/>
          <p:nvPr/>
        </p:nvSpPr>
        <p:spPr>
          <a:xfrm flipH="false" flipV="false" rot="0">
            <a:off x="6314503" y="654253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9" id="29"/>
          <p:cNvGrpSpPr/>
          <p:nvPr/>
        </p:nvGrpSpPr>
        <p:grpSpPr>
          <a:xfrm rot="0">
            <a:off x="6494255" y="6208133"/>
            <a:ext cx="2557448" cy="1231568"/>
            <a:chOff x="0" y="0"/>
            <a:chExt cx="2273287" cy="1094727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2273300" cy="1094740"/>
            </a:xfrm>
            <a:custGeom>
              <a:avLst/>
              <a:gdLst/>
              <a:ahLst/>
              <a:cxnLst/>
              <a:rect r="r" b="b" t="t" l="l"/>
              <a:pathLst>
                <a:path h="1094740" w="2273300">
                  <a:moveTo>
                    <a:pt x="0" y="0"/>
                  </a:moveTo>
                  <a:lnTo>
                    <a:pt x="2273300" y="0"/>
                  </a:lnTo>
                  <a:lnTo>
                    <a:pt x="2273300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sp>
        <p:nvSpPr>
          <p:cNvPr name="Freeform 31" id="31"/>
          <p:cNvSpPr/>
          <p:nvPr/>
        </p:nvSpPr>
        <p:spPr>
          <a:xfrm flipH="false" flipV="false" rot="0">
            <a:off x="6458993" y="6138381"/>
            <a:ext cx="2627943" cy="1302063"/>
          </a:xfrm>
          <a:custGeom>
            <a:avLst/>
            <a:gdLst/>
            <a:ahLst/>
            <a:cxnLst/>
            <a:rect r="r" b="b" t="t" l="l"/>
            <a:pathLst>
              <a:path h="1302063" w="2627943">
                <a:moveTo>
                  <a:pt x="0" y="0"/>
                </a:moveTo>
                <a:lnTo>
                  <a:pt x="2627943" y="0"/>
                </a:lnTo>
                <a:lnTo>
                  <a:pt x="2627943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2" id="32"/>
          <p:cNvGrpSpPr/>
          <p:nvPr/>
        </p:nvGrpSpPr>
        <p:grpSpPr>
          <a:xfrm rot="0">
            <a:off x="8979422" y="6517029"/>
            <a:ext cx="298309" cy="613777"/>
            <a:chOff x="0" y="0"/>
            <a:chExt cx="265163" cy="545579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4" b="2"/>
              </a:stretch>
            </a:blipFill>
          </p:spPr>
        </p:sp>
      </p:grpSp>
      <p:sp>
        <p:nvSpPr>
          <p:cNvPr name="Freeform 34" id="34"/>
          <p:cNvSpPr/>
          <p:nvPr/>
        </p:nvSpPr>
        <p:spPr>
          <a:xfrm flipH="false" flipV="false" rot="0">
            <a:off x="9039415" y="654253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5" id="35"/>
          <p:cNvGrpSpPr/>
          <p:nvPr/>
        </p:nvGrpSpPr>
        <p:grpSpPr>
          <a:xfrm rot="0">
            <a:off x="9219167" y="6208133"/>
            <a:ext cx="2557448" cy="1231568"/>
            <a:chOff x="0" y="0"/>
            <a:chExt cx="2273287" cy="1094727"/>
          </a:xfrm>
        </p:grpSpPr>
        <p:sp>
          <p:nvSpPr>
            <p:cNvPr name="Freeform 36" id="36"/>
            <p:cNvSpPr/>
            <p:nvPr/>
          </p:nvSpPr>
          <p:spPr>
            <a:xfrm flipH="false" flipV="false" rot="0">
              <a:off x="0" y="0"/>
              <a:ext cx="2273300" cy="1094740"/>
            </a:xfrm>
            <a:custGeom>
              <a:avLst/>
              <a:gdLst/>
              <a:ahLst/>
              <a:cxnLst/>
              <a:rect r="r" b="b" t="t" l="l"/>
              <a:pathLst>
                <a:path h="1094740" w="2273300">
                  <a:moveTo>
                    <a:pt x="0" y="0"/>
                  </a:moveTo>
                  <a:lnTo>
                    <a:pt x="2273300" y="0"/>
                  </a:lnTo>
                  <a:lnTo>
                    <a:pt x="2273300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sp>
        <p:nvSpPr>
          <p:cNvPr name="Freeform 37" id="37"/>
          <p:cNvSpPr/>
          <p:nvPr/>
        </p:nvSpPr>
        <p:spPr>
          <a:xfrm flipH="false" flipV="false" rot="0">
            <a:off x="9183905" y="6138381"/>
            <a:ext cx="2627943" cy="1302063"/>
          </a:xfrm>
          <a:custGeom>
            <a:avLst/>
            <a:gdLst/>
            <a:ahLst/>
            <a:cxnLst/>
            <a:rect r="r" b="b" t="t" l="l"/>
            <a:pathLst>
              <a:path h="1302063" w="2627943">
                <a:moveTo>
                  <a:pt x="0" y="0"/>
                </a:moveTo>
                <a:lnTo>
                  <a:pt x="2627943" y="0"/>
                </a:lnTo>
                <a:lnTo>
                  <a:pt x="2627943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8" id="38"/>
          <p:cNvGrpSpPr/>
          <p:nvPr/>
        </p:nvGrpSpPr>
        <p:grpSpPr>
          <a:xfrm rot="0">
            <a:off x="11704334" y="6517029"/>
            <a:ext cx="298309" cy="613777"/>
            <a:chOff x="0" y="0"/>
            <a:chExt cx="265163" cy="545579"/>
          </a:xfrm>
        </p:grpSpPr>
        <p:sp>
          <p:nvSpPr>
            <p:cNvPr name="Freeform 39" id="39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4" b="2"/>
              </a:stretch>
            </a:blipFill>
          </p:spPr>
        </p:sp>
      </p:grpSp>
      <p:sp>
        <p:nvSpPr>
          <p:cNvPr name="Freeform 40" id="40"/>
          <p:cNvSpPr/>
          <p:nvPr/>
        </p:nvSpPr>
        <p:spPr>
          <a:xfrm flipH="false" flipV="false" rot="0">
            <a:off x="11764328" y="654253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1" id="41"/>
          <p:cNvGrpSpPr/>
          <p:nvPr/>
        </p:nvGrpSpPr>
        <p:grpSpPr>
          <a:xfrm rot="0">
            <a:off x="11944064" y="6208133"/>
            <a:ext cx="2557448" cy="1231568"/>
            <a:chOff x="0" y="0"/>
            <a:chExt cx="2273287" cy="1094727"/>
          </a:xfrm>
        </p:grpSpPr>
        <p:sp>
          <p:nvSpPr>
            <p:cNvPr name="Freeform 42" id="42"/>
            <p:cNvSpPr/>
            <p:nvPr/>
          </p:nvSpPr>
          <p:spPr>
            <a:xfrm flipH="false" flipV="false" rot="0">
              <a:off x="0" y="0"/>
              <a:ext cx="2273300" cy="1094740"/>
            </a:xfrm>
            <a:custGeom>
              <a:avLst/>
              <a:gdLst/>
              <a:ahLst/>
              <a:cxnLst/>
              <a:rect r="r" b="b" t="t" l="l"/>
              <a:pathLst>
                <a:path h="1094740" w="2273300">
                  <a:moveTo>
                    <a:pt x="0" y="0"/>
                  </a:moveTo>
                  <a:lnTo>
                    <a:pt x="2273300" y="0"/>
                  </a:lnTo>
                  <a:lnTo>
                    <a:pt x="2273300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sp>
        <p:nvSpPr>
          <p:cNvPr name="Freeform 43" id="43"/>
          <p:cNvSpPr/>
          <p:nvPr/>
        </p:nvSpPr>
        <p:spPr>
          <a:xfrm flipH="false" flipV="false" rot="0">
            <a:off x="11908817" y="6138381"/>
            <a:ext cx="2627943" cy="1302063"/>
          </a:xfrm>
          <a:custGeom>
            <a:avLst/>
            <a:gdLst/>
            <a:ahLst/>
            <a:cxnLst/>
            <a:rect r="r" b="b" t="t" l="l"/>
            <a:pathLst>
              <a:path h="1302063" w="2627943">
                <a:moveTo>
                  <a:pt x="0" y="0"/>
                </a:moveTo>
                <a:lnTo>
                  <a:pt x="2627943" y="0"/>
                </a:lnTo>
                <a:lnTo>
                  <a:pt x="2627943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4" id="44"/>
          <p:cNvGrpSpPr/>
          <p:nvPr/>
        </p:nvGrpSpPr>
        <p:grpSpPr>
          <a:xfrm rot="0">
            <a:off x="14429232" y="6517029"/>
            <a:ext cx="298309" cy="613777"/>
            <a:chOff x="0" y="0"/>
            <a:chExt cx="265163" cy="545579"/>
          </a:xfrm>
        </p:grpSpPr>
        <p:sp>
          <p:nvSpPr>
            <p:cNvPr name="Freeform 45" id="45"/>
            <p:cNvSpPr/>
            <p:nvPr/>
          </p:nvSpPr>
          <p:spPr>
            <a:xfrm flipH="false" flipV="false" rot="0">
              <a:off x="0" y="0"/>
              <a:ext cx="265176" cy="545592"/>
            </a:xfrm>
            <a:custGeom>
              <a:avLst/>
              <a:gdLst/>
              <a:ahLst/>
              <a:cxnLst/>
              <a:rect r="r" b="b" t="t" l="l"/>
              <a:pathLst>
                <a:path h="545592" w="265176">
                  <a:moveTo>
                    <a:pt x="0" y="0"/>
                  </a:moveTo>
                  <a:lnTo>
                    <a:pt x="265176" y="0"/>
                  </a:lnTo>
                  <a:lnTo>
                    <a:pt x="265176" y="545592"/>
                  </a:lnTo>
                  <a:lnTo>
                    <a:pt x="0" y="5455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 l="0" t="0" r="4" b="2"/>
              </a:stretch>
            </a:blipFill>
          </p:spPr>
        </p:sp>
      </p:grpSp>
      <p:sp>
        <p:nvSpPr>
          <p:cNvPr name="Freeform 46" id="46"/>
          <p:cNvSpPr/>
          <p:nvPr/>
        </p:nvSpPr>
        <p:spPr>
          <a:xfrm flipH="false" flipV="false" rot="0">
            <a:off x="14489240" y="6542532"/>
            <a:ext cx="178308" cy="493776"/>
          </a:xfrm>
          <a:custGeom>
            <a:avLst/>
            <a:gdLst/>
            <a:ahLst/>
            <a:cxnLst/>
            <a:rect r="r" b="b" t="t" l="l"/>
            <a:pathLst>
              <a:path h="493776" w="178308">
                <a:moveTo>
                  <a:pt x="0" y="0"/>
                </a:moveTo>
                <a:lnTo>
                  <a:pt x="178308" y="0"/>
                </a:lnTo>
                <a:lnTo>
                  <a:pt x="178308" y="493776"/>
                </a:lnTo>
                <a:lnTo>
                  <a:pt x="0" y="493776"/>
                </a:lnTo>
                <a:lnTo>
                  <a:pt x="0" y="0"/>
                </a:lnTo>
                <a:close/>
              </a:path>
            </a:pathLst>
          </a:custGeom>
          <a:blipFill>
            <a:blip r:embed="rId17">
              <a:extLs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7" id="47"/>
          <p:cNvGrpSpPr/>
          <p:nvPr/>
        </p:nvGrpSpPr>
        <p:grpSpPr>
          <a:xfrm rot="0">
            <a:off x="14668991" y="6208133"/>
            <a:ext cx="2557448" cy="1231568"/>
            <a:chOff x="0" y="0"/>
            <a:chExt cx="2273287" cy="1094727"/>
          </a:xfrm>
        </p:grpSpPr>
        <p:sp>
          <p:nvSpPr>
            <p:cNvPr name="Freeform 48" id="48"/>
            <p:cNvSpPr/>
            <p:nvPr/>
          </p:nvSpPr>
          <p:spPr>
            <a:xfrm flipH="false" flipV="false" rot="0">
              <a:off x="0" y="0"/>
              <a:ext cx="2273300" cy="1094740"/>
            </a:xfrm>
            <a:custGeom>
              <a:avLst/>
              <a:gdLst/>
              <a:ahLst/>
              <a:cxnLst/>
              <a:rect r="r" b="b" t="t" l="l"/>
              <a:pathLst>
                <a:path h="1094740" w="2273300">
                  <a:moveTo>
                    <a:pt x="0" y="0"/>
                  </a:moveTo>
                  <a:lnTo>
                    <a:pt x="2273300" y="0"/>
                  </a:lnTo>
                  <a:lnTo>
                    <a:pt x="2273300" y="1094740"/>
                  </a:lnTo>
                  <a:lnTo>
                    <a:pt x="0" y="10947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 l="0" t="0" r="0" b="1"/>
              </a:stretch>
            </a:blipFill>
          </p:spPr>
        </p:sp>
      </p:grpSp>
      <p:sp>
        <p:nvSpPr>
          <p:cNvPr name="Freeform 49" id="49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19">
              <a:extLs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0" id="50"/>
          <p:cNvSpPr/>
          <p:nvPr/>
        </p:nvSpPr>
        <p:spPr>
          <a:xfrm flipH="false" flipV="false" rot="0">
            <a:off x="14633729" y="6138381"/>
            <a:ext cx="2627943" cy="1302063"/>
          </a:xfrm>
          <a:custGeom>
            <a:avLst/>
            <a:gdLst/>
            <a:ahLst/>
            <a:cxnLst/>
            <a:rect r="r" b="b" t="t" l="l"/>
            <a:pathLst>
              <a:path h="1302063" w="2627943">
                <a:moveTo>
                  <a:pt x="0" y="0"/>
                </a:moveTo>
                <a:lnTo>
                  <a:pt x="2627943" y="0"/>
                </a:lnTo>
                <a:lnTo>
                  <a:pt x="2627943" y="1302063"/>
                </a:lnTo>
                <a:lnTo>
                  <a:pt x="0" y="1302063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1" id="51"/>
          <p:cNvSpPr txBox="true"/>
          <p:nvPr/>
        </p:nvSpPr>
        <p:spPr>
          <a:xfrm rot="0">
            <a:off x="1102995" y="547497"/>
            <a:ext cx="3320958" cy="828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b="true" sz="45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The Core Idea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84575" y="1528420"/>
            <a:ext cx="61479" cy="3924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1459982" y="6564478"/>
            <a:ext cx="1686818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S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ecurity Events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4423953" y="6564478"/>
            <a:ext cx="108513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Detection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130427" y="1528420"/>
            <a:ext cx="5253335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A smarter approach to security threat detection.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7129820" y="6564478"/>
            <a:ext cx="1038165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AI Tr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iage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638948" y="6564478"/>
            <a:ext cx="172646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Thr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eat Decision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2802343" y="6564478"/>
            <a:ext cx="1061026" cy="4038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Response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4925023" y="6431304"/>
            <a:ext cx="2045384" cy="7753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F</a:t>
            </a:r>
            <a:r>
              <a:rPr lang="en-US" b="true" sz="21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orensics + Dashboard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1540921" y="2472897"/>
            <a:ext cx="6900377" cy="1225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79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Traditional approach</a:t>
            </a:r>
          </a:p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Rules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can identify known patterns, but they may lack the context needed to distinguish a real threat from a false positive.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0224135" y="2468194"/>
            <a:ext cx="5957259" cy="10763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</a:t>
            </a:r>
            <a:r>
              <a:rPr lang="en-US" b="true" sz="27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 AI SOC Approach</a:t>
            </a:r>
          </a:p>
          <a:p>
            <a:pPr algn="l">
              <a:lnSpc>
                <a:spcPts val="2430"/>
              </a:lnSpc>
            </a:pP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AI </a:t>
            </a:r>
            <a:r>
              <a:rPr lang="en-US" b="true" sz="2025">
                <a:solidFill>
                  <a:srgbClr val="5B626D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analyzes flagged events and provides a verdict, confidence, reasoning and recommended action.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91628" y="3975171"/>
            <a:ext cx="6261825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Event → Rule M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atch → Alert → Manual Investigation → Response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10224135" y="3913113"/>
            <a:ext cx="6244609" cy="7391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35"/>
              </a:lnSpc>
            </a:pP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Security Event</a:t>
            </a:r>
            <a:r>
              <a:rPr lang="en-US" sz="2025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 → Heuristic Detection → AI Analysis → Threat / False Positive → Response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102995" y="9692678"/>
            <a:ext cx="2660790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10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8F9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523047" y="2948940"/>
            <a:ext cx="15224846" cy="2308946"/>
          </a:xfrm>
          <a:custGeom>
            <a:avLst/>
            <a:gdLst/>
            <a:ahLst/>
            <a:cxnLst/>
            <a:rect r="r" b="b" t="t" l="l"/>
            <a:pathLst>
              <a:path h="2308946" w="15224846">
                <a:moveTo>
                  <a:pt x="0" y="0"/>
                </a:moveTo>
                <a:lnTo>
                  <a:pt x="15224846" y="0"/>
                </a:lnTo>
                <a:lnTo>
                  <a:pt x="15224846" y="2308946"/>
                </a:lnTo>
                <a:lnTo>
                  <a:pt x="0" y="230894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974408" y="9669780"/>
            <a:ext cx="16322040" cy="342900"/>
          </a:xfrm>
          <a:custGeom>
            <a:avLst/>
            <a:gdLst/>
            <a:ahLst/>
            <a:cxnLst/>
            <a:rect r="r" b="b" t="t" l="l"/>
            <a:pathLst>
              <a:path h="342900" w="16322040">
                <a:moveTo>
                  <a:pt x="0" y="0"/>
                </a:moveTo>
                <a:lnTo>
                  <a:pt x="16322040" y="0"/>
                </a:lnTo>
                <a:lnTo>
                  <a:pt x="16322040" y="342900"/>
                </a:lnTo>
                <a:lnTo>
                  <a:pt x="0" y="3429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7341532" y="2804770"/>
            <a:ext cx="3656686" cy="12306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240"/>
              </a:lnSpc>
            </a:pPr>
            <a:r>
              <a:rPr lang="en-US" b="true" sz="6600">
                <a:solidFill>
                  <a:srgbClr val="1C1F2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Thank You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9257086" y="3906203"/>
            <a:ext cx="109785" cy="6905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sz="3749">
                <a:solidFill>
                  <a:srgbClr val="5848B4"/>
                </a:solidFill>
                <a:latin typeface="Calibri (MS)"/>
                <a:ea typeface="Calibri (MS)"/>
                <a:cs typeface="Calibri (MS)"/>
                <a:sym typeface="Calibri (MS)"/>
              </a:rPr>
              <a:t> 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311324" y="4719637"/>
            <a:ext cx="5747981" cy="7048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249"/>
              </a:lnSpc>
            </a:pPr>
            <a:r>
              <a:rPr lang="en-US" b="true" sz="3749">
                <a:solidFill>
                  <a:srgbClr val="5848B4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TEAM NAME- FRESHERSFTW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102995" y="9692678"/>
            <a:ext cx="2660790" cy="2447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889"/>
              </a:lnSpc>
            </a:pPr>
            <a:r>
              <a:rPr lang="en-US" sz="1350">
                <a:solidFill>
                  <a:srgbClr val="5B626D"/>
                </a:solidFill>
                <a:latin typeface="Calibri (MS)"/>
                <a:ea typeface="Calibri (MS)"/>
                <a:cs typeface="Calibri (MS)"/>
                <a:sym typeface="Calibri (MS)"/>
              </a:rPr>
              <a:t>HackForge Ideathon • Habitica | 11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881546" y="6110288"/>
            <a:ext cx="4076105" cy="20193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5848B4"/>
                </a:solidFill>
                <a:latin typeface="Calibri (MS)"/>
                <a:ea typeface="Calibri (MS)"/>
                <a:cs typeface="Calibri (MS)"/>
                <a:sym typeface="Calibri (MS)"/>
              </a:rPr>
              <a:t>MANASH BAJPAI</a:t>
            </a:r>
          </a:p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5848B4"/>
                </a:solidFill>
                <a:latin typeface="Calibri (MS)"/>
                <a:ea typeface="Calibri (MS)"/>
                <a:cs typeface="Calibri (MS)"/>
                <a:sym typeface="Calibri (MS)"/>
              </a:rPr>
              <a:t>SAGAR ARORA</a:t>
            </a:r>
          </a:p>
          <a:p>
            <a:pPr algn="ctr">
              <a:lnSpc>
                <a:spcPts val="5249"/>
              </a:lnSpc>
            </a:pPr>
            <a:r>
              <a:rPr lang="en-US" sz="3749">
                <a:solidFill>
                  <a:srgbClr val="5848B4"/>
                </a:solidFill>
                <a:latin typeface="Calibri (MS)"/>
                <a:ea typeface="Calibri (MS)"/>
                <a:cs typeface="Calibri (MS)"/>
                <a:sym typeface="Calibri (MS)"/>
              </a:rPr>
              <a:t>SAKSHAM PATHANIA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DAHXQP6-3Ww</dc:identifier>
  <dcterms:modified xsi:type="dcterms:W3CDTF">2011-08-01T06:04:30Z</dcterms:modified>
  <cp:revision>1</cp:revision>
  <dc:title>Habitica</dc:title>
</cp:coreProperties>
</file>